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256" r:id="rId2"/>
    <p:sldId id="289" r:id="rId3"/>
    <p:sldId id="290" r:id="rId4"/>
    <p:sldId id="291" r:id="rId5"/>
    <p:sldId id="299" r:id="rId6"/>
    <p:sldId id="300" r:id="rId7"/>
    <p:sldId id="301" r:id="rId8"/>
    <p:sldId id="292" r:id="rId9"/>
    <p:sldId id="293" r:id="rId10"/>
    <p:sldId id="302" r:id="rId11"/>
    <p:sldId id="303" r:id="rId12"/>
    <p:sldId id="304" r:id="rId13"/>
    <p:sldId id="305" r:id="rId14"/>
    <p:sldId id="294" r:id="rId15"/>
    <p:sldId id="306" r:id="rId16"/>
    <p:sldId id="307" r:id="rId17"/>
    <p:sldId id="295" r:id="rId18"/>
    <p:sldId id="296" r:id="rId19"/>
    <p:sldId id="297" r:id="rId20"/>
    <p:sldId id="298" r:id="rId21"/>
    <p:sldId id="288" r:id="rId22"/>
  </p:sldIdLst>
  <p:sldSz cx="12192000" cy="6858000"/>
  <p:notesSz cx="12192000" cy="6858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538" autoAdjust="0"/>
    <p:restoredTop sz="95033" autoAdjust="0"/>
  </p:normalViewPr>
  <p:slideViewPr>
    <p:cSldViewPr>
      <p:cViewPr varScale="1">
        <p:scale>
          <a:sx n="66" d="100"/>
          <a:sy n="66" d="100"/>
        </p:scale>
        <p:origin x="48" y="778"/>
      </p:cViewPr>
      <p:guideLst>
        <p:guide orient="horz" pos="2880"/>
        <p:guide pos="2160"/>
      </p:guideLst>
    </p:cSldViewPr>
  </p:slideViewPr>
  <p:notesTextViewPr>
    <p:cViewPr>
      <p:scale>
        <a:sx n="100" d="100"/>
        <a:sy n="100" d="100"/>
      </p:scale>
      <p:origin x="0" y="0"/>
    </p:cViewPr>
  </p:notesTextViewPr>
  <p:notesViewPr>
    <p:cSldViewPr>
      <p:cViewPr varScale="1">
        <p:scale>
          <a:sx n="83" d="100"/>
          <a:sy n="83" d="100"/>
        </p:scale>
        <p:origin x="1392"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ADD96E76-517F-B468-04D8-38EFA44947EB}"/>
              </a:ext>
            </a:extLst>
          </p:cNvPr>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8678D0B9-782A-7C16-D731-EEB7F991FA76}"/>
              </a:ext>
            </a:extLst>
          </p:cNvPr>
          <p:cNvSpPr>
            <a:spLocks noGrp="1"/>
          </p:cNvSpPr>
          <p:nvPr>
            <p:ph type="dt" sz="quarter" idx="1"/>
          </p:nvPr>
        </p:nvSpPr>
        <p:spPr>
          <a:xfrm>
            <a:off x="6905625" y="0"/>
            <a:ext cx="5283200" cy="344488"/>
          </a:xfrm>
          <a:prstGeom prst="rect">
            <a:avLst/>
          </a:prstGeom>
        </p:spPr>
        <p:txBody>
          <a:bodyPr vert="horz" lIns="91440" tIns="45720" rIns="91440" bIns="45720" rtlCol="0"/>
          <a:lstStyle>
            <a:lvl1pPr algn="r">
              <a:defRPr sz="1200"/>
            </a:lvl1pPr>
          </a:lstStyle>
          <a:p>
            <a:fld id="{8438F8DC-35B0-48E6-A86E-42F1F08DD00F}" type="datetimeFigureOut">
              <a:rPr lang="es-ES" smtClean="0"/>
              <a:t>03/06/2026</a:t>
            </a:fld>
            <a:endParaRPr lang="es-ES"/>
          </a:p>
        </p:txBody>
      </p:sp>
      <p:sp>
        <p:nvSpPr>
          <p:cNvPr id="4" name="Marcador de pie de página 3">
            <a:extLst>
              <a:ext uri="{FF2B5EF4-FFF2-40B4-BE49-F238E27FC236}">
                <a16:creationId xmlns:a16="http://schemas.microsoft.com/office/drawing/2014/main" id="{2F2E7B1C-60E2-8A48-EEE0-6715FC30A8B7}"/>
              </a:ext>
            </a:extLst>
          </p:cNvPr>
          <p:cNvSpPr>
            <a:spLocks noGrp="1"/>
          </p:cNvSpPr>
          <p:nvPr>
            <p:ph type="ftr" sz="quarter" idx="2"/>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C428D795-4EA2-62F0-B78A-5F215C828C50}"/>
              </a:ext>
            </a:extLst>
          </p:cNvPr>
          <p:cNvSpPr>
            <a:spLocks noGrp="1"/>
          </p:cNvSpPr>
          <p:nvPr>
            <p:ph type="sldNum" sz="quarter" idx="3"/>
          </p:nvPr>
        </p:nvSpPr>
        <p:spPr>
          <a:xfrm>
            <a:off x="6905625" y="6513513"/>
            <a:ext cx="5283200" cy="344487"/>
          </a:xfrm>
          <a:prstGeom prst="rect">
            <a:avLst/>
          </a:prstGeom>
        </p:spPr>
        <p:txBody>
          <a:bodyPr vert="horz" lIns="91440" tIns="45720" rIns="91440" bIns="45720" rtlCol="0" anchor="b"/>
          <a:lstStyle>
            <a:lvl1pPr algn="r">
              <a:defRPr sz="1200"/>
            </a:lvl1pPr>
          </a:lstStyle>
          <a:p>
            <a:fld id="{4116A549-763A-4A89-A454-A94BAF51395E}" type="slidenum">
              <a:rPr lang="es-ES" smtClean="0"/>
              <a:t>‹N›</a:t>
            </a:fld>
            <a:endParaRPr lang="es-ES"/>
          </a:p>
        </p:txBody>
      </p:sp>
    </p:spTree>
    <p:extLst>
      <p:ext uri="{BB962C8B-B14F-4D97-AF65-F5344CB8AC3E}">
        <p14:creationId xmlns:p14="http://schemas.microsoft.com/office/powerpoint/2010/main" val="140347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FACBDC12-F39B-4B97-8F4D-6734F9D366FF}" type="datetimeFigureOut">
              <a:rPr lang="es-ES" smtClean="0"/>
              <a:t>03/06/2026</a:t>
            </a:fld>
            <a:endParaRPr lang="es-ES"/>
          </a:p>
        </p:txBody>
      </p:sp>
      <p:sp>
        <p:nvSpPr>
          <p:cNvPr id="4" name="Marcador de imagen de diapositiva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676223B9-C868-4436-87D9-1A3152E1157A}" type="slidenum">
              <a:rPr lang="es-ES" smtClean="0"/>
              <a:t>‹N›</a:t>
            </a:fld>
            <a:endParaRPr lang="es-ES"/>
          </a:p>
        </p:txBody>
      </p:sp>
    </p:spTree>
    <p:extLst>
      <p:ext uri="{BB962C8B-B14F-4D97-AF65-F5344CB8AC3E}">
        <p14:creationId xmlns:p14="http://schemas.microsoft.com/office/powerpoint/2010/main" val="2834211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676223B9-C868-4436-87D9-1A3152E1157A}" type="slidenum">
              <a:rPr lang="es-ES" smtClean="0"/>
              <a:t>3</a:t>
            </a:fld>
            <a:endParaRPr lang="es-ES"/>
          </a:p>
        </p:txBody>
      </p:sp>
    </p:spTree>
    <p:extLst>
      <p:ext uri="{BB962C8B-B14F-4D97-AF65-F5344CB8AC3E}">
        <p14:creationId xmlns:p14="http://schemas.microsoft.com/office/powerpoint/2010/main" val="2092532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087AEC-015A-4808-9AC9-382D824E43C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FC03EDA-741F-B6F5-3444-A8D74D690AB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7839219-55CF-753A-3C53-04F6B1E28970}"/>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D04B99BF-32CC-B000-CB3E-0CD66FF7CA7C}"/>
              </a:ext>
            </a:extLst>
          </p:cNvPr>
          <p:cNvSpPr>
            <a:spLocks noGrp="1"/>
          </p:cNvSpPr>
          <p:nvPr>
            <p:ph type="sldNum" sz="quarter" idx="5"/>
          </p:nvPr>
        </p:nvSpPr>
        <p:spPr/>
        <p:txBody>
          <a:bodyPr/>
          <a:lstStyle/>
          <a:p>
            <a:fld id="{676223B9-C868-4436-87D9-1A3152E1157A}" type="slidenum">
              <a:rPr lang="es-ES" smtClean="0"/>
              <a:t>4</a:t>
            </a:fld>
            <a:endParaRPr lang="es-ES"/>
          </a:p>
        </p:txBody>
      </p:sp>
    </p:spTree>
    <p:extLst>
      <p:ext uri="{BB962C8B-B14F-4D97-AF65-F5344CB8AC3E}">
        <p14:creationId xmlns:p14="http://schemas.microsoft.com/office/powerpoint/2010/main" val="2687642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E2BF37-98F6-CD9B-2255-0A64B5CEA44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AB68927E-2442-0553-FBC8-D3C32BCC5CF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6130D77-4D33-EE41-3A9E-4EB6D2419067}"/>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75BAC07D-EBC4-F68A-7BE7-2B2DCCECD5CD}"/>
              </a:ext>
            </a:extLst>
          </p:cNvPr>
          <p:cNvSpPr>
            <a:spLocks noGrp="1"/>
          </p:cNvSpPr>
          <p:nvPr>
            <p:ph type="sldNum" sz="quarter" idx="5"/>
          </p:nvPr>
        </p:nvSpPr>
        <p:spPr/>
        <p:txBody>
          <a:bodyPr/>
          <a:lstStyle/>
          <a:p>
            <a:fld id="{676223B9-C868-4436-87D9-1A3152E1157A}" type="slidenum">
              <a:rPr lang="es-ES" smtClean="0"/>
              <a:t>8</a:t>
            </a:fld>
            <a:endParaRPr lang="es-ES"/>
          </a:p>
        </p:txBody>
      </p:sp>
    </p:spTree>
    <p:extLst>
      <p:ext uri="{BB962C8B-B14F-4D97-AF65-F5344CB8AC3E}">
        <p14:creationId xmlns:p14="http://schemas.microsoft.com/office/powerpoint/2010/main" val="18854310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0988B3-C141-4645-2F2A-A09F408267B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B22BAD8-B0CC-3164-3027-A210D7EB753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3995D4B-1202-927A-28C9-66F35C33AE68}"/>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0156FFEE-1184-FFA2-1E7F-CC9E8439AC53}"/>
              </a:ext>
            </a:extLst>
          </p:cNvPr>
          <p:cNvSpPr>
            <a:spLocks noGrp="1"/>
          </p:cNvSpPr>
          <p:nvPr>
            <p:ph type="sldNum" sz="quarter" idx="5"/>
          </p:nvPr>
        </p:nvSpPr>
        <p:spPr/>
        <p:txBody>
          <a:bodyPr/>
          <a:lstStyle/>
          <a:p>
            <a:fld id="{676223B9-C868-4436-87D9-1A3152E1157A}" type="slidenum">
              <a:rPr lang="es-ES" smtClean="0"/>
              <a:t>9</a:t>
            </a:fld>
            <a:endParaRPr lang="es-ES"/>
          </a:p>
        </p:txBody>
      </p:sp>
    </p:spTree>
    <p:extLst>
      <p:ext uri="{BB962C8B-B14F-4D97-AF65-F5344CB8AC3E}">
        <p14:creationId xmlns:p14="http://schemas.microsoft.com/office/powerpoint/2010/main" val="3810953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D9EAE7-9EAB-544B-26F0-D89AD57C0BCA}"/>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77142DDC-39F3-B8EF-C550-B1BDBF798325}"/>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14E7676-8E00-A60E-B890-D4F612C9A57A}"/>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8F8AAF8C-62CF-3619-1C70-91E48BE9A4C4}"/>
              </a:ext>
            </a:extLst>
          </p:cNvPr>
          <p:cNvSpPr>
            <a:spLocks noGrp="1"/>
          </p:cNvSpPr>
          <p:nvPr>
            <p:ph type="sldNum" sz="quarter" idx="5"/>
          </p:nvPr>
        </p:nvSpPr>
        <p:spPr/>
        <p:txBody>
          <a:bodyPr/>
          <a:lstStyle/>
          <a:p>
            <a:fld id="{676223B9-C868-4436-87D9-1A3152E1157A}" type="slidenum">
              <a:rPr lang="es-ES" smtClean="0"/>
              <a:t>14</a:t>
            </a:fld>
            <a:endParaRPr lang="es-ES"/>
          </a:p>
        </p:txBody>
      </p:sp>
    </p:spTree>
    <p:extLst>
      <p:ext uri="{BB962C8B-B14F-4D97-AF65-F5344CB8AC3E}">
        <p14:creationId xmlns:p14="http://schemas.microsoft.com/office/powerpoint/2010/main" val="21631047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169CA-A6E9-D0C3-4D3A-6AF90891044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EC97DB9-2632-3700-0312-BB76DC46DEE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4A897758-8CC0-1479-13D7-87B5FBD747CB}"/>
              </a:ext>
            </a:extLst>
          </p:cNvPr>
          <p:cNvSpPr>
            <a:spLocks noGrp="1"/>
          </p:cNvSpPr>
          <p:nvPr>
            <p:ph type="body" idx="1"/>
          </p:nvPr>
        </p:nvSpPr>
        <p:spPr/>
        <p:txBody>
          <a:bodyPr/>
          <a:lstStyle/>
          <a:p>
            <a:endParaRPr lang="es-ES" dirty="0"/>
          </a:p>
        </p:txBody>
      </p:sp>
      <p:sp>
        <p:nvSpPr>
          <p:cNvPr id="4" name="Marcador de número de diapositiva 3">
            <a:extLst>
              <a:ext uri="{FF2B5EF4-FFF2-40B4-BE49-F238E27FC236}">
                <a16:creationId xmlns:a16="http://schemas.microsoft.com/office/drawing/2014/main" id="{5060DEFB-1A44-3354-5B15-298FF8A10085}"/>
              </a:ext>
            </a:extLst>
          </p:cNvPr>
          <p:cNvSpPr>
            <a:spLocks noGrp="1"/>
          </p:cNvSpPr>
          <p:nvPr>
            <p:ph type="sldNum" sz="quarter" idx="5"/>
          </p:nvPr>
        </p:nvSpPr>
        <p:spPr/>
        <p:txBody>
          <a:bodyPr/>
          <a:lstStyle/>
          <a:p>
            <a:fld id="{676223B9-C868-4436-87D9-1A3152E1157A}" type="slidenum">
              <a:rPr lang="es-ES" smtClean="0"/>
              <a:t>17</a:t>
            </a:fld>
            <a:endParaRPr lang="es-ES"/>
          </a:p>
        </p:txBody>
      </p:sp>
    </p:spTree>
    <p:extLst>
      <p:ext uri="{BB962C8B-B14F-4D97-AF65-F5344CB8AC3E}">
        <p14:creationId xmlns:p14="http://schemas.microsoft.com/office/powerpoint/2010/main" val="15764594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590550" y="206752"/>
            <a:ext cx="10991850" cy="307777"/>
          </a:xfrm>
        </p:spPr>
        <p:txBody>
          <a:bodyPr lIns="0" tIns="0" rIns="0" bIns="0"/>
          <a:lstStyle>
            <a:lvl1pPr>
              <a:defRPr sz="2000" b="1" i="0">
                <a:solidFill>
                  <a:schemeClr val="tx1"/>
                </a:solidFill>
                <a:latin typeface="Calibri"/>
                <a:cs typeface="Calibri"/>
              </a:defRPr>
            </a:lvl1pPr>
          </a:lstStyle>
          <a:p>
            <a:endParaRPr dirty="0"/>
          </a:p>
        </p:txBody>
      </p:sp>
      <p:sp>
        <p:nvSpPr>
          <p:cNvPr id="3" name="Holder 3"/>
          <p:cNvSpPr>
            <a:spLocks noGrp="1"/>
          </p:cNvSpPr>
          <p:nvPr>
            <p:ph type="body" idx="1"/>
          </p:nvPr>
        </p:nvSpPr>
        <p:spPr>
          <a:xfrm>
            <a:off x="609600" y="2152910"/>
            <a:ext cx="10972800" cy="3950710"/>
          </a:xfrm>
        </p:spPr>
        <p:txBody>
          <a:bodyPr lIns="0" tIns="0" rIns="0" bIns="0"/>
          <a:lstStyle>
            <a:lvl1pPr>
              <a:defRPr/>
            </a:lvl1pPr>
          </a:lstStyle>
          <a:p>
            <a:endParaRPr dirty="0"/>
          </a:p>
        </p:txBody>
      </p:sp>
      <p:sp>
        <p:nvSpPr>
          <p:cNvPr id="4" name="Holder 4"/>
          <p:cNvSpPr>
            <a:spLocks noGrp="1"/>
          </p:cNvSpPr>
          <p:nvPr>
            <p:ph type="ftr" sz="quarter" idx="5"/>
          </p:nvPr>
        </p:nvSpPr>
        <p:spPr>
          <a:xfrm>
            <a:off x="609600" y="6457057"/>
            <a:ext cx="2743200" cy="184666"/>
          </a:xfrm>
        </p:spPr>
        <p:txBody>
          <a:bodyPr lIns="0" tIns="0" rIns="0" bIns="0" anchor="ctr"/>
          <a:lstStyle>
            <a:lvl1pPr>
              <a:defRPr sz="1200" b="0" i="0">
                <a:solidFill>
                  <a:srgbClr val="585858"/>
                </a:solidFill>
                <a:latin typeface="Arial"/>
                <a:cs typeface="Arial"/>
              </a:defRPr>
            </a:lvl1pPr>
          </a:lstStyle>
          <a:p>
            <a:pPr marL="12700">
              <a:spcBef>
                <a:spcPts val="15"/>
              </a:spcBef>
            </a:pPr>
            <a:r>
              <a:rPr lang="es-ES" spc="-5"/>
              <a:t>LAB 4.0. LAYOUT</a:t>
            </a:r>
            <a:endParaRPr lang="es-ES" spc="-5" dirty="0"/>
          </a:p>
        </p:txBody>
      </p:sp>
      <p:sp>
        <p:nvSpPr>
          <p:cNvPr id="6" name="Holder 6"/>
          <p:cNvSpPr>
            <a:spLocks noGrp="1"/>
          </p:cNvSpPr>
          <p:nvPr>
            <p:ph type="sldNum" sz="quarter" idx="7"/>
          </p:nvPr>
        </p:nvSpPr>
        <p:spPr>
          <a:xfrm>
            <a:off x="9311640" y="6377940"/>
            <a:ext cx="2804160" cy="342900"/>
          </a:xfrm>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0" y="2636520"/>
            <a:ext cx="3944620" cy="1584960"/>
          </a:xfrm>
          <a:custGeom>
            <a:avLst/>
            <a:gdLst/>
            <a:ahLst/>
            <a:cxnLst/>
            <a:rect l="l" t="t" r="r" b="b"/>
            <a:pathLst>
              <a:path w="3944620" h="1584960">
                <a:moveTo>
                  <a:pt x="0" y="1584959"/>
                </a:moveTo>
                <a:lnTo>
                  <a:pt x="3944112" y="1584959"/>
                </a:lnTo>
                <a:lnTo>
                  <a:pt x="3944112" y="0"/>
                </a:lnTo>
                <a:lnTo>
                  <a:pt x="0" y="0"/>
                </a:lnTo>
                <a:lnTo>
                  <a:pt x="0" y="1584959"/>
                </a:lnTo>
                <a:close/>
              </a:path>
            </a:pathLst>
          </a:custGeom>
          <a:solidFill>
            <a:srgbClr val="000000"/>
          </a:solidFill>
        </p:spPr>
        <p:txBody>
          <a:bodyPr wrap="square" lIns="0" tIns="0" rIns="0" bIns="0" rtlCol="0"/>
          <a:lstStyle/>
          <a:p>
            <a:endParaRPr/>
          </a:p>
        </p:txBody>
      </p:sp>
      <p:sp>
        <p:nvSpPr>
          <p:cNvPr id="17" name="bk object 17"/>
          <p:cNvSpPr/>
          <p:nvPr/>
        </p:nvSpPr>
        <p:spPr>
          <a:xfrm>
            <a:off x="771144" y="2951988"/>
            <a:ext cx="2403348" cy="954024"/>
          </a:xfrm>
          <a:prstGeom prst="rect">
            <a:avLst/>
          </a:prstGeom>
          <a:blipFill>
            <a:blip r:embed="rId2" cstate="print"/>
            <a:stretch>
              <a:fillRect/>
            </a:stretch>
          </a:blipFill>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600" b="0" i="0">
                <a:solidFill>
                  <a:schemeClr val="tx1"/>
                </a:solidFill>
                <a:latin typeface="Calibri"/>
                <a:cs typeface="Calibri"/>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5" name="Holder 5"/>
          <p:cNvSpPr>
            <a:spLocks noGrp="1"/>
          </p:cNvSpPr>
          <p:nvPr>
            <p:ph type="sldNum" sz="quarter" idx="7"/>
          </p:nvPr>
        </p:nvSpPr>
        <p:spPr>
          <a:xfrm>
            <a:off x="9296400" y="6377940"/>
            <a:ext cx="2804160" cy="342900"/>
          </a:xfrm>
        </p:spPr>
        <p:txBody>
          <a:bodyPr lIns="0" tIns="0" rIns="0" bIns="0"/>
          <a:lstStyle>
            <a:lvl1pPr algn="r">
              <a:defRPr>
                <a:solidFill>
                  <a:schemeClr val="tx1">
                    <a:tint val="75000"/>
                  </a:schemeClr>
                </a:solidFill>
              </a:defRPr>
            </a:lvl1pPr>
          </a:lstStyle>
          <a:p>
            <a:fld id="{B6F15528-21DE-4FAA-801E-634DDDAF4B2B}" type="slidenum">
              <a:t>‹N›</a:t>
            </a:fld>
            <a:endParaRPr/>
          </a:p>
        </p:txBody>
      </p:sp>
      <p:pic>
        <p:nvPicPr>
          <p:cNvPr id="6" name="Gráfico 5">
            <a:extLst>
              <a:ext uri="{FF2B5EF4-FFF2-40B4-BE49-F238E27FC236}">
                <a16:creationId xmlns:a16="http://schemas.microsoft.com/office/drawing/2014/main" id="{F5CB4B75-CC85-5F87-B13B-97FD63FFBC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891213" y="6357666"/>
            <a:ext cx="6409575" cy="363174"/>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594327" y="4722313"/>
            <a:ext cx="1521016" cy="1253853"/>
          </a:xfrm>
          <a:prstGeom prst="rect">
            <a:avLst/>
          </a:prstGeom>
          <a:blipFill>
            <a:blip r:embed="rId2" cstate="print"/>
            <a:stretch>
              <a:fillRect/>
            </a:stretch>
          </a:blipFill>
        </p:spPr>
        <p:txBody>
          <a:bodyPr wrap="square" lIns="0" tIns="0" rIns="0" bIns="0" rtlCol="0"/>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a:xfrm>
            <a:off x="9372600" y="6377940"/>
            <a:ext cx="2804160" cy="342900"/>
          </a:xfrm>
        </p:spPr>
        <p:txBody>
          <a:bodyPr lIns="0" tIns="0" rIns="0" bIns="0"/>
          <a:lstStyle>
            <a:lvl1pPr algn="r">
              <a:defRPr>
                <a:solidFill>
                  <a:schemeClr val="tx1">
                    <a:tint val="75000"/>
                  </a:schemeClr>
                </a:solidFill>
              </a:defRPr>
            </a:lvl1pPr>
          </a:lstStyle>
          <a:p>
            <a:fld id="{B6F15528-21DE-4FAA-801E-634DDDAF4B2B}" type="slidenum">
              <a:t>‹N›</a:t>
            </a:fld>
            <a:endParaRPr/>
          </a:p>
        </p:txBody>
      </p:sp>
      <p:pic>
        <p:nvPicPr>
          <p:cNvPr id="5" name="Gráfico 4">
            <a:extLst>
              <a:ext uri="{FF2B5EF4-FFF2-40B4-BE49-F238E27FC236}">
                <a16:creationId xmlns:a16="http://schemas.microsoft.com/office/drawing/2014/main" id="{9F3DE434-B07E-429D-5547-0D42DA9B05A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exto simple">
    <p:spTree>
      <p:nvGrpSpPr>
        <p:cNvPr id="1" name=""/>
        <p:cNvGrpSpPr/>
        <p:nvPr/>
      </p:nvGrpSpPr>
      <p:grpSpPr>
        <a:xfrm>
          <a:off x="0" y="0"/>
          <a:ext cx="0" cy="0"/>
          <a:chOff x="0" y="0"/>
          <a:chExt cx="0" cy="0"/>
        </a:xfrm>
      </p:grpSpPr>
      <p:sp>
        <p:nvSpPr>
          <p:cNvPr id="6" name="Rectangle 47"/>
          <p:cNvSpPr/>
          <p:nvPr userDrawn="1"/>
        </p:nvSpPr>
        <p:spPr>
          <a:xfrm>
            <a:off x="608171" y="381001"/>
            <a:ext cx="45731" cy="68349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9" name="Título 8"/>
          <p:cNvSpPr>
            <a:spLocks noGrp="1"/>
          </p:cNvSpPr>
          <p:nvPr>
            <p:ph type="title" hasCustomPrompt="1"/>
          </p:nvPr>
        </p:nvSpPr>
        <p:spPr>
          <a:xfrm>
            <a:off x="736652" y="381000"/>
            <a:ext cx="7778317" cy="313782"/>
          </a:xfrm>
        </p:spPr>
        <p:txBody>
          <a:bodyPr>
            <a:normAutofit/>
          </a:bodyPr>
          <a:lstStyle>
            <a:lvl1pPr algn="l">
              <a:defRPr sz="2800" b="1" i="0" baseline="0">
                <a:solidFill>
                  <a:schemeClr val="tx1">
                    <a:lumMod val="65000"/>
                    <a:lumOff val="35000"/>
                  </a:schemeClr>
                </a:solidFill>
                <a:latin typeface="Calibri" panose="020F0502020204030204" pitchFamily="34" charset="0"/>
                <a:ea typeface="Open Sans Extrabold" panose="020B0906030804020204" pitchFamily="34" charset="0"/>
                <a:cs typeface="Calibri" panose="020F0502020204030204" pitchFamily="34" charset="0"/>
              </a:defRPr>
            </a:lvl1pPr>
          </a:lstStyle>
          <a:p>
            <a:r>
              <a:rPr lang="es-ES" dirty="0"/>
              <a:t>TITULO</a:t>
            </a:r>
          </a:p>
        </p:txBody>
      </p:sp>
      <p:sp>
        <p:nvSpPr>
          <p:cNvPr id="13" name="Marcador de texto 12"/>
          <p:cNvSpPr>
            <a:spLocks noGrp="1"/>
          </p:cNvSpPr>
          <p:nvPr>
            <p:ph type="body" sz="quarter" idx="10" hasCustomPrompt="1"/>
          </p:nvPr>
        </p:nvSpPr>
        <p:spPr>
          <a:xfrm>
            <a:off x="608171" y="1295401"/>
            <a:ext cx="11051877" cy="4958137"/>
          </a:xfrm>
        </p:spPr>
        <p:txBody>
          <a:bodyPr>
            <a:normAutofit/>
          </a:bodyPr>
          <a:lstStyle>
            <a:lvl1pPr>
              <a:defRPr sz="2400" baseline="0">
                <a:latin typeface="Calibri" panose="020F0502020204030204" pitchFamily="34" charset="0"/>
                <a:ea typeface="Open Sans Light" panose="020B0306030504020204" pitchFamily="34" charset="0"/>
                <a:cs typeface="Calibri" panose="020F0502020204030204" pitchFamily="34" charset="0"/>
              </a:defRPr>
            </a:lvl1pPr>
            <a:lvl2pPr>
              <a:defRPr sz="1800">
                <a:latin typeface="Calibri" panose="020F0502020204030204" pitchFamily="34" charset="0"/>
                <a:ea typeface="Open Sans Light" panose="020B0306030504020204" pitchFamily="34" charset="0"/>
                <a:cs typeface="Calibri" panose="020F0502020204030204" pitchFamily="34" charset="0"/>
              </a:defRPr>
            </a:lvl2pPr>
            <a:lvl3pPr>
              <a:defRPr sz="1600">
                <a:latin typeface="Calibri" panose="020F0502020204030204" pitchFamily="34" charset="0"/>
                <a:ea typeface="Open Sans Light" panose="020B0306030504020204" pitchFamily="34" charset="0"/>
                <a:cs typeface="Calibri" panose="020F0502020204030204" pitchFamily="34" charset="0"/>
              </a:defRPr>
            </a:lvl3pPr>
            <a:lvl4pPr>
              <a:defRPr sz="1400">
                <a:latin typeface="Calibri" panose="020F0502020204030204" pitchFamily="34" charset="0"/>
                <a:ea typeface="Open Sans Light" panose="020B0306030504020204" pitchFamily="34" charset="0"/>
                <a:cs typeface="Calibri" panose="020F0502020204030204" pitchFamily="34" charset="0"/>
              </a:defRPr>
            </a:lvl4pPr>
            <a:lvl5pPr>
              <a:defRPr sz="1400">
                <a:latin typeface="Calibri" panose="020F0502020204030204" pitchFamily="34" charset="0"/>
                <a:ea typeface="Open Sans Light" panose="020B0306030504020204" pitchFamily="34" charset="0"/>
                <a:cs typeface="Calibri" panose="020F0502020204030204" pitchFamily="34" charset="0"/>
              </a:defRPr>
            </a:lvl5pPr>
          </a:lstStyle>
          <a:p>
            <a:pPr lvl="0"/>
            <a:r>
              <a:rPr lang="es-ES" dirty="0"/>
              <a:t>Texto del contenido</a:t>
            </a:r>
          </a:p>
          <a:p>
            <a:pPr lvl="1"/>
            <a:r>
              <a:rPr lang="es-ES" dirty="0"/>
              <a:t>Segundo nivel</a:t>
            </a:r>
          </a:p>
          <a:p>
            <a:pPr lvl="2"/>
            <a:r>
              <a:rPr lang="es-ES" dirty="0"/>
              <a:t>Tercer nivel</a:t>
            </a:r>
          </a:p>
          <a:p>
            <a:pPr lvl="3"/>
            <a:r>
              <a:rPr lang="es-ES" dirty="0"/>
              <a:t>Cuarto nivel</a:t>
            </a:r>
          </a:p>
          <a:p>
            <a:pPr lvl="4"/>
            <a:r>
              <a:rPr lang="es-ES" dirty="0"/>
              <a:t>Quinto nivel</a:t>
            </a:r>
          </a:p>
        </p:txBody>
      </p:sp>
      <p:sp>
        <p:nvSpPr>
          <p:cNvPr id="23" name="Marcador de texto 22"/>
          <p:cNvSpPr>
            <a:spLocks noGrp="1"/>
          </p:cNvSpPr>
          <p:nvPr>
            <p:ph type="body" sz="quarter" idx="11" hasCustomPrompt="1"/>
          </p:nvPr>
        </p:nvSpPr>
        <p:spPr>
          <a:xfrm>
            <a:off x="736652" y="730647"/>
            <a:ext cx="7778317" cy="381000"/>
          </a:xfrm>
        </p:spPr>
        <p:txBody>
          <a:bodyPr>
            <a:noAutofit/>
          </a:bodyPr>
          <a:lstStyle>
            <a:lvl1pPr marL="0" indent="0">
              <a:buNone/>
              <a:defRPr sz="2000">
                <a:latin typeface="Calibri" panose="020F0502020204030204" pitchFamily="34" charset="0"/>
                <a:ea typeface="Open Sans Light" panose="020B0306030504020204" pitchFamily="34" charset="0"/>
                <a:cs typeface="Calibri" panose="020F0502020204030204" pitchFamily="34" charset="0"/>
              </a:defRPr>
            </a:lvl1pPr>
          </a:lstStyle>
          <a:p>
            <a:pPr lvl="0"/>
            <a:r>
              <a:rPr lang="es-ES" dirty="0"/>
              <a:t>Subtítulo del artículo con una explicación corta a modo resumen</a:t>
            </a:r>
          </a:p>
        </p:txBody>
      </p:sp>
      <p:sp>
        <p:nvSpPr>
          <p:cNvPr id="11" name="Date Placeholder 3"/>
          <p:cNvSpPr>
            <a:spLocks noGrp="1"/>
          </p:cNvSpPr>
          <p:nvPr>
            <p:ph type="dt" sz="half" idx="2"/>
          </p:nvPr>
        </p:nvSpPr>
        <p:spPr>
          <a:xfrm>
            <a:off x="609600" y="6387407"/>
            <a:ext cx="1980287" cy="303019"/>
          </a:xfrm>
          <a:prstGeom prst="rect">
            <a:avLst/>
          </a:prstGeom>
        </p:spPr>
        <p:txBody>
          <a:bodyPr vert="horz" lIns="117208" tIns="58604" rIns="117208" bIns="58604" rtlCol="0" anchor="ctr"/>
          <a:lstStyle>
            <a:lvl1pPr algn="l">
              <a:defRPr sz="1200">
                <a:solidFill>
                  <a:schemeClr val="tx1">
                    <a:tint val="75000"/>
                  </a:schemeClr>
                </a:solidFill>
              </a:defRPr>
            </a:lvl1pPr>
          </a:lstStyle>
          <a:p>
            <a:endParaRPr lang="en-US" dirty="0"/>
          </a:p>
        </p:txBody>
      </p:sp>
      <p:sp>
        <p:nvSpPr>
          <p:cNvPr id="12" name="Footer Placeholder 4"/>
          <p:cNvSpPr>
            <a:spLocks noGrp="1"/>
          </p:cNvSpPr>
          <p:nvPr>
            <p:ph type="ftr" sz="quarter" idx="3"/>
          </p:nvPr>
        </p:nvSpPr>
        <p:spPr>
          <a:xfrm>
            <a:off x="2894768" y="6387407"/>
            <a:ext cx="6402465" cy="303019"/>
          </a:xfrm>
          <a:prstGeom prst="rect">
            <a:avLst/>
          </a:prstGeom>
        </p:spPr>
        <p:txBody>
          <a:bodyPr vert="horz" lIns="117208" tIns="58604" rIns="117208" bIns="58604" rtlCol="0" anchor="ctr"/>
          <a:lstStyle>
            <a:lvl1pPr algn="ctr">
              <a:defRPr sz="1200">
                <a:solidFill>
                  <a:schemeClr val="tx1">
                    <a:tint val="75000"/>
                  </a:schemeClr>
                </a:solidFill>
              </a:defRPr>
            </a:lvl1pPr>
          </a:lstStyle>
          <a:p>
            <a:r>
              <a:rPr lang="en-US"/>
              <a:t>LAB 4.0. LAYOUT</a:t>
            </a:r>
          </a:p>
        </p:txBody>
      </p:sp>
      <p:sp>
        <p:nvSpPr>
          <p:cNvPr id="14" name="Slide Number Placeholder 5"/>
          <p:cNvSpPr>
            <a:spLocks noGrp="1"/>
          </p:cNvSpPr>
          <p:nvPr>
            <p:ph type="sldNum" sz="quarter" idx="4"/>
          </p:nvPr>
        </p:nvSpPr>
        <p:spPr>
          <a:xfrm>
            <a:off x="11431389" y="6388096"/>
            <a:ext cx="760611" cy="303019"/>
          </a:xfrm>
          <a:prstGeom prst="rect">
            <a:avLst/>
          </a:prstGeom>
          <a:solidFill>
            <a:schemeClr val="bg2"/>
          </a:solidFill>
        </p:spPr>
        <p:txBody>
          <a:bodyPr vert="horz" lIns="117208" tIns="58604" rIns="117208" bIns="58604" rtlCol="0" anchor="ctr"/>
          <a:lstStyle>
            <a:lvl1pPr algn="r">
              <a:defRPr sz="1200">
                <a:solidFill>
                  <a:srgbClr val="FF6309"/>
                </a:solidFill>
              </a:defRPr>
            </a:lvl1pPr>
          </a:lstStyle>
          <a:p>
            <a:fld id="{C2F52289-4012-4053-9770-FE82CEB9514F}" type="slidenum">
              <a:rPr lang="en-US" smtClean="0"/>
              <a:pPr/>
              <a:t>‹N›</a:t>
            </a:fld>
            <a:endParaRPr lang="en-US" dirty="0"/>
          </a:p>
        </p:txBody>
      </p:sp>
    </p:spTree>
    <p:extLst>
      <p:ext uri="{BB962C8B-B14F-4D97-AF65-F5344CB8AC3E}">
        <p14:creationId xmlns:p14="http://schemas.microsoft.com/office/powerpoint/2010/main" val="3024640384"/>
      </p:ext>
    </p:extLst>
  </p:cSld>
  <p:clrMapOvr>
    <a:masterClrMapping/>
  </p:clrMapOvr>
  <p:extLst>
    <p:ext uri="{DCECCB84-F9BA-43D5-87BE-67443E8EF086}">
      <p15:sldGuideLst xmlns:p15="http://schemas.microsoft.com/office/powerpoint/2012/main">
        <p15:guide id="1" orient="horz" pos="2160">
          <p15:clr>
            <a:srgbClr val="FBAE40"/>
          </p15:clr>
        </p15:guide>
        <p15:guide id="2" pos="3839">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891539" y="5283707"/>
            <a:ext cx="2624328" cy="1574289"/>
          </a:xfrm>
          <a:prstGeom prst="rect">
            <a:avLst/>
          </a:prstGeom>
          <a:blipFill>
            <a:blip r:embed="rId8" cstate="print"/>
            <a:stretch>
              <a:fillRect/>
            </a:stretch>
          </a:blipFill>
        </p:spPr>
        <p:txBody>
          <a:bodyPr wrap="square" lIns="0" tIns="0" rIns="0" bIns="0" rtlCol="0"/>
          <a:lstStyle/>
          <a:p>
            <a:endParaRPr/>
          </a:p>
        </p:txBody>
      </p:sp>
      <p:sp>
        <p:nvSpPr>
          <p:cNvPr id="2" name="Holder 2"/>
          <p:cNvSpPr>
            <a:spLocks noGrp="1"/>
          </p:cNvSpPr>
          <p:nvPr>
            <p:ph type="title"/>
          </p:nvPr>
        </p:nvSpPr>
        <p:spPr>
          <a:xfrm>
            <a:off x="3986910" y="1699005"/>
            <a:ext cx="2599054" cy="269239"/>
          </a:xfrm>
          <a:prstGeom prst="rect">
            <a:avLst/>
          </a:prstGeom>
        </p:spPr>
        <p:txBody>
          <a:bodyPr wrap="square" lIns="0" tIns="0" rIns="0" bIns="0">
            <a:spAutoFit/>
          </a:bodyPr>
          <a:lstStyle>
            <a:lvl1pPr>
              <a:defRPr sz="1600" b="0" i="0">
                <a:solidFill>
                  <a:schemeClr val="tx1"/>
                </a:solidFill>
                <a:latin typeface="Calibri"/>
                <a:cs typeface="Calibri"/>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5695950" y="6465068"/>
            <a:ext cx="1210945" cy="153670"/>
          </a:xfrm>
          <a:prstGeom prst="rect">
            <a:avLst/>
          </a:prstGeom>
        </p:spPr>
        <p:txBody>
          <a:bodyPr wrap="square" lIns="0" tIns="0" rIns="0" bIns="0">
            <a:spAutoFit/>
          </a:bodyPr>
          <a:lstStyle>
            <a:lvl1pPr>
              <a:defRPr sz="900" b="0" i="0">
                <a:solidFill>
                  <a:srgbClr val="585858"/>
                </a:solidFill>
                <a:latin typeface="Arial"/>
                <a:cs typeface="Arial"/>
              </a:defRPr>
            </a:lvl1pPr>
          </a:lstStyle>
          <a:p>
            <a:pPr marL="12700">
              <a:lnSpc>
                <a:spcPct val="100000"/>
              </a:lnSpc>
              <a:spcBef>
                <a:spcPts val="15"/>
              </a:spcBef>
            </a:pPr>
            <a:r>
              <a:rPr lang="es-ES" spc="-5"/>
              <a:t>LAB 4.0. LAYOUT</a:t>
            </a:r>
            <a:endParaRPr spc="-5"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a:xfrm>
            <a:off x="93116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‹N›</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hyperlink" Target="https://github.com/pascualmunoz/cifoin-lab4.git"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sv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4.sv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svg"/></Relationships>
</file>

<file path=ppt/slides/_rels/slide18.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image" Target="../media/image39.png"/><Relationship Id="rId1" Type="http://schemas.openxmlformats.org/officeDocument/2006/relationships/slideLayout" Target="../slideLayouts/slideLayout2.xml"/><Relationship Id="rId6" Type="http://schemas.openxmlformats.org/officeDocument/2006/relationships/image" Target="../media/image43.png"/><Relationship Id="rId11" Type="http://schemas.openxmlformats.org/officeDocument/2006/relationships/image" Target="../media/image48.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1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1.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2749676" y="4919853"/>
            <a:ext cx="9213724" cy="505267"/>
          </a:xfrm>
          <a:prstGeom prst="rect">
            <a:avLst/>
          </a:prstGeom>
        </p:spPr>
        <p:txBody>
          <a:bodyPr vert="horz" wrap="square" lIns="0" tIns="12700" rIns="0" bIns="0" rtlCol="0">
            <a:spAutoFit/>
          </a:bodyPr>
          <a:lstStyle/>
          <a:p>
            <a:pPr marL="12700">
              <a:lnSpc>
                <a:spcPct val="100000"/>
              </a:lnSpc>
              <a:spcBef>
                <a:spcPts val="100"/>
              </a:spcBef>
            </a:pPr>
            <a:r>
              <a:rPr lang="es-ES" sz="3200" b="1" dirty="0">
                <a:latin typeface="Lucida Sans"/>
                <a:cs typeface="Lucida Sans"/>
              </a:rPr>
              <a:t>Lab Book 3.0 Circuits and Compact </a:t>
            </a:r>
            <a:r>
              <a:rPr lang="es-ES" sz="3200" b="1" dirty="0" err="1">
                <a:latin typeface="Lucida Sans"/>
                <a:cs typeface="Lucida Sans"/>
              </a:rPr>
              <a:t>Models</a:t>
            </a:r>
            <a:endParaRPr sz="3200" dirty="0">
              <a:latin typeface="Lucida Sans"/>
              <a:cs typeface="Lucida Sans"/>
            </a:endParaRPr>
          </a:p>
        </p:txBody>
      </p:sp>
      <p:sp>
        <p:nvSpPr>
          <p:cNvPr id="4" name="object 4"/>
          <p:cNvSpPr txBox="1"/>
          <p:nvPr/>
        </p:nvSpPr>
        <p:spPr>
          <a:xfrm>
            <a:off x="2749676" y="5610250"/>
            <a:ext cx="8223124" cy="289823"/>
          </a:xfrm>
          <a:prstGeom prst="rect">
            <a:avLst/>
          </a:prstGeom>
        </p:spPr>
        <p:txBody>
          <a:bodyPr vert="horz" wrap="square" lIns="0" tIns="12700" rIns="0" bIns="0" rtlCol="0">
            <a:spAutoFit/>
          </a:bodyPr>
          <a:lstStyle/>
          <a:p>
            <a:pPr marL="12700">
              <a:lnSpc>
                <a:spcPct val="100000"/>
              </a:lnSpc>
              <a:spcBef>
                <a:spcPts val="100"/>
              </a:spcBef>
            </a:pPr>
            <a:r>
              <a:rPr lang="es-ES" spc="165" dirty="0" err="1">
                <a:latin typeface="Arial"/>
                <a:cs typeface="Arial"/>
              </a:rPr>
              <a:t>Student</a:t>
            </a:r>
            <a:r>
              <a:rPr lang="es-ES" spc="165" dirty="0">
                <a:latin typeface="Arial"/>
                <a:cs typeface="Arial"/>
              </a:rPr>
              <a:t>: </a:t>
            </a:r>
            <a:endParaRPr sz="1800" dirty="0">
              <a:latin typeface="Arial"/>
              <a:cs typeface="Arial"/>
            </a:endParaRPr>
          </a:p>
        </p:txBody>
      </p:sp>
      <p:sp>
        <p:nvSpPr>
          <p:cNvPr id="5" name="object 5"/>
          <p:cNvSpPr/>
          <p:nvPr/>
        </p:nvSpPr>
        <p:spPr>
          <a:xfrm>
            <a:off x="0" y="0"/>
            <a:ext cx="12192000" cy="4189476"/>
          </a:xfrm>
          <a:prstGeom prst="rect">
            <a:avLst/>
          </a:prstGeom>
          <a:blipFill>
            <a:blip r:embed="rId2" cstate="print"/>
            <a:stretch>
              <a:fillRect/>
            </a:stretch>
          </a:blipFill>
        </p:spPr>
        <p:txBody>
          <a:bodyPr wrap="square" lIns="0" tIns="0" rIns="0" bIns="0" rtlCol="0"/>
          <a:lstStyle/>
          <a:p>
            <a:endParaRPr/>
          </a:p>
        </p:txBody>
      </p:sp>
      <p:sp>
        <p:nvSpPr>
          <p:cNvPr id="7" name="Marcador de número de diapositiva 6">
            <a:extLst>
              <a:ext uri="{FF2B5EF4-FFF2-40B4-BE49-F238E27FC236}">
                <a16:creationId xmlns:a16="http://schemas.microsoft.com/office/drawing/2014/main" id="{F6F66F51-9238-50FE-85C2-BAC3DA79D767}"/>
              </a:ext>
            </a:extLst>
          </p:cNvPr>
          <p:cNvSpPr>
            <a:spLocks noGrp="1"/>
          </p:cNvSpPr>
          <p:nvPr>
            <p:ph type="sldNum" sz="quarter" idx="7"/>
          </p:nvPr>
        </p:nvSpPr>
        <p:spPr/>
        <p:txBody>
          <a:bodyPr/>
          <a:lstStyle/>
          <a:p>
            <a:fld id="{B6F15528-21DE-4FAA-801E-634DDDAF4B2B}" type="slidenum">
              <a:rPr lang="es-ES" smtClean="0"/>
              <a:t>1</a:t>
            </a:fld>
            <a:endParaRPr lang="es-E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8A4D4-C3C4-085B-A7AD-EA04D83F48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B7433F1-7A0E-D925-6140-7305139D053A}"/>
              </a:ext>
            </a:extLst>
          </p:cNvPr>
          <p:cNvSpPr txBox="1">
            <a:spLocks noGrp="1"/>
          </p:cNvSpPr>
          <p:nvPr>
            <p:ph type="title"/>
          </p:nvPr>
        </p:nvSpPr>
        <p:spPr>
          <a:xfrm>
            <a:off x="685800" y="408883"/>
            <a:ext cx="6153785" cy="705321"/>
          </a:xfrm>
          <a:prstGeom prst="rect">
            <a:avLst/>
          </a:prstGeom>
        </p:spPr>
        <p:txBody>
          <a:bodyPr vert="horz" wrap="square" lIns="0" tIns="12700" rIns="0" bIns="0" rtlCol="0">
            <a:spAutoFit/>
          </a:bodyPr>
          <a:lstStyle/>
          <a:p>
            <a:pPr marL="12700">
              <a:lnSpc>
                <a:spcPct val="100000"/>
              </a:lnSpc>
              <a:spcBef>
                <a:spcPts val="100"/>
              </a:spcBef>
            </a:pPr>
            <a:r>
              <a:rPr lang="es-ES" sz="2500" u="sng" spc="-5" dirty="0" err="1">
                <a:latin typeface="+mj-lt"/>
                <a:cs typeface="Lucida Sans"/>
              </a:rPr>
              <a:t>Instructions</a:t>
            </a:r>
            <a:br>
              <a:rPr lang="es-ES" sz="2400" spc="-5" dirty="0">
                <a:latin typeface="+mj-lt"/>
                <a:cs typeface="Lucida Sans"/>
              </a:rPr>
            </a:br>
            <a:r>
              <a:rPr lang="es-ES" b="0" spc="-5" dirty="0">
                <a:latin typeface="+mj-lt"/>
                <a:cs typeface="Lucida Sans"/>
              </a:rPr>
              <a:t>General</a:t>
            </a:r>
            <a:endParaRPr sz="2400" b="0" dirty="0">
              <a:latin typeface="+mj-lt"/>
              <a:cs typeface="Lucida Sans"/>
            </a:endParaRPr>
          </a:p>
        </p:txBody>
      </p:sp>
      <p:pic>
        <p:nvPicPr>
          <p:cNvPr id="83" name="Gráfico 82">
            <a:extLst>
              <a:ext uri="{FF2B5EF4-FFF2-40B4-BE49-F238E27FC236}">
                <a16:creationId xmlns:a16="http://schemas.microsoft.com/office/drawing/2014/main" id="{E518E73B-CE22-A00C-9C86-634FB762EE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1E163A6B-DFE4-C67D-5F3E-A56ACEF2EA4C}"/>
              </a:ext>
            </a:extLst>
          </p:cNvPr>
          <p:cNvSpPr>
            <a:spLocks noGrp="1"/>
          </p:cNvSpPr>
          <p:nvPr>
            <p:ph type="sldNum" sz="quarter" idx="7"/>
          </p:nvPr>
        </p:nvSpPr>
        <p:spPr/>
        <p:txBody>
          <a:bodyPr/>
          <a:lstStyle/>
          <a:p>
            <a:fld id="{B6F15528-21DE-4FAA-801E-634DDDAF4B2B}" type="slidenum">
              <a:rPr lang="es-ES" smtClean="0"/>
              <a:t>2</a:t>
            </a:fld>
            <a:endParaRPr lang="es-ES"/>
          </a:p>
        </p:txBody>
      </p:sp>
      <p:sp>
        <p:nvSpPr>
          <p:cNvPr id="3" name="Marcador de pie de página 2">
            <a:extLst>
              <a:ext uri="{FF2B5EF4-FFF2-40B4-BE49-F238E27FC236}">
                <a16:creationId xmlns:a16="http://schemas.microsoft.com/office/drawing/2014/main" id="{95FC84FF-30D3-FDAB-0A5A-0F07F8EE1161}"/>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4" name="Marcador de texto 2">
            <a:extLst>
              <a:ext uri="{FF2B5EF4-FFF2-40B4-BE49-F238E27FC236}">
                <a16:creationId xmlns:a16="http://schemas.microsoft.com/office/drawing/2014/main" id="{9F7BC140-B3D8-C3CB-55AD-9064C7CDE9CA}"/>
              </a:ext>
            </a:extLst>
          </p:cNvPr>
          <p:cNvSpPr txBox="1">
            <a:spLocks/>
          </p:cNvSpPr>
          <p:nvPr/>
        </p:nvSpPr>
        <p:spPr>
          <a:xfrm>
            <a:off x="608011" y="1163263"/>
            <a:ext cx="11048999" cy="4958137"/>
          </a:xfrm>
          <a:prstGeom prst="rect">
            <a:avLst/>
          </a:prstGeom>
        </p:spPr>
        <p:txBody>
          <a:bodyPr>
            <a:normAutofit/>
          </a:bodyPr>
          <a:lst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a:r>
              <a:rPr lang="en-US" sz="2000" b="1" kern="0" dirty="0">
                <a:solidFill>
                  <a:sysClr val="windowText" lastClr="000000"/>
                </a:solidFill>
                <a:sym typeface="Wingdings" pitchFamily="2" charset="2"/>
              </a:rPr>
              <a:t>SCRIPTS</a:t>
            </a:r>
          </a:p>
          <a:p>
            <a:pPr marL="342900" indent="-342900" algn="just">
              <a:buFont typeface="Arial" panose="020B0604020202020204" pitchFamily="34" charset="0"/>
              <a:buChar char="•"/>
            </a:pPr>
            <a:r>
              <a:rPr lang="en-US" kern="0" dirty="0">
                <a:solidFill>
                  <a:sysClr val="windowText" lastClr="000000"/>
                </a:solidFill>
                <a:sym typeface="Wingdings" pitchFamily="2" charset="2"/>
              </a:rPr>
              <a:t>From 	GitHub  </a:t>
            </a: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Fork the repo: </a:t>
            </a:r>
            <a:r>
              <a:rPr lang="en-US" kern="0" dirty="0">
                <a:solidFill>
                  <a:sysClr val="windowText" lastClr="000000"/>
                </a:solidFill>
                <a:sym typeface="Wingdings" pitchFamily="2" charset="2"/>
                <a:hlinkClick r:id="rId4"/>
              </a:rPr>
              <a:t>https://github.com/pascualmunoz/cifoin-lab4.git</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Clone the repo using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folder / repo in </a:t>
            </a:r>
            <a:r>
              <a:rPr lang="en-US" kern="0" dirty="0" err="1">
                <a:solidFill>
                  <a:sysClr val="windowText" lastClr="000000"/>
                </a:solidFill>
                <a:sym typeface="Wingdings" pitchFamily="2" charset="2"/>
              </a:rPr>
              <a:t>VSCode</a:t>
            </a:r>
            <a:endParaRPr lang="en-US" kern="0" dirty="0">
              <a:solidFill>
                <a:sysClr val="windowText" lastClr="000000"/>
              </a:solidFill>
              <a:sym typeface="Wingdings" pitchFamily="2" charset="2"/>
            </a:endParaRPr>
          </a:p>
          <a:p>
            <a:pPr marL="800100" lvl="1" indent="-342900" algn="just">
              <a:buFont typeface="Arial" panose="020B0604020202020204" pitchFamily="34" charset="0"/>
              <a:buChar char="•"/>
            </a:pPr>
            <a:r>
              <a:rPr lang="en-US" kern="0" dirty="0">
                <a:solidFill>
                  <a:sysClr val="windowText" lastClr="000000"/>
                </a:solidFill>
                <a:sym typeface="Wingdings" pitchFamily="2" charset="2"/>
              </a:rPr>
              <a:t>Open terminal: </a:t>
            </a:r>
            <a:r>
              <a:rPr lang="en-US" kern="0" dirty="0" err="1">
                <a:solidFill>
                  <a:sysClr val="windowText" lastClr="000000"/>
                </a:solidFill>
                <a:sym typeface="Wingdings" pitchFamily="2" charset="2"/>
              </a:rPr>
              <a:t>uv</a:t>
            </a:r>
            <a:r>
              <a:rPr lang="en-US" kern="0" dirty="0">
                <a:solidFill>
                  <a:sysClr val="windowText" lastClr="000000"/>
                </a:solidFill>
                <a:sym typeface="Wingdings" pitchFamily="2" charset="2"/>
              </a:rPr>
              <a:t> sync</a:t>
            </a:r>
          </a:p>
          <a:p>
            <a:pPr marL="342900" indent="-342900" algn="just">
              <a:buFont typeface="Arial" panose="020B0604020202020204" pitchFamily="34" charset="0"/>
              <a:buChar char="•"/>
            </a:pPr>
            <a:r>
              <a:rPr lang="en-US" kern="0" dirty="0">
                <a:solidFill>
                  <a:sysClr val="windowText" lastClr="000000"/>
                </a:solidFill>
              </a:rPr>
              <a:t>Run the </a:t>
            </a:r>
            <a:r>
              <a:rPr lang="en-US" kern="0" dirty="0" err="1">
                <a:solidFill>
                  <a:sysClr val="windowText" lastClr="000000"/>
                </a:solidFill>
              </a:rPr>
              <a:t>Jupyter</a:t>
            </a:r>
            <a:r>
              <a:rPr lang="en-US" kern="0" dirty="0">
                <a:solidFill>
                  <a:sysClr val="windowText" lastClr="000000"/>
                </a:solidFill>
              </a:rPr>
              <a:t> Notebook: </a:t>
            </a:r>
          </a:p>
          <a:p>
            <a:pPr marL="800100" lvl="1" indent="-342900" algn="just">
              <a:buFont typeface="Arial" panose="020B0604020202020204" pitchFamily="34" charset="0"/>
              <a:buChar char="•"/>
            </a:pPr>
            <a:r>
              <a:rPr lang="en-US" kern="0" dirty="0" err="1">
                <a:solidFill>
                  <a:sysClr val="windowText" lastClr="000000"/>
                </a:solidFill>
              </a:rPr>
              <a:t>LAYOUT_STUDENT.ipynb</a:t>
            </a:r>
            <a:r>
              <a:rPr lang="en-US" kern="0" dirty="0">
                <a:solidFill>
                  <a:sysClr val="windowText" lastClr="000000"/>
                </a:solidFill>
              </a:rPr>
              <a:t> </a:t>
            </a:r>
          </a:p>
          <a:p>
            <a:pPr marL="342900" indent="-342900" algn="just">
              <a:buFont typeface="Arial" panose="020B0604020202020204" pitchFamily="34" charset="0"/>
              <a:buChar char="•"/>
            </a:pPr>
            <a:endParaRPr lang="en-US" kern="0" dirty="0">
              <a:solidFill>
                <a:sysClr val="windowText" lastClr="000000"/>
              </a:solidFill>
            </a:endParaRPr>
          </a:p>
          <a:p>
            <a:pPr marL="342900" indent="-342900" algn="just">
              <a:buFont typeface="Arial" panose="020B0604020202020204" pitchFamily="34" charset="0"/>
              <a:buChar char="•"/>
            </a:pPr>
            <a:r>
              <a:rPr lang="en-US" b="1" kern="0" dirty="0">
                <a:solidFill>
                  <a:srgbClr val="FF0000"/>
                </a:solidFill>
              </a:rPr>
              <a:t>Points</a:t>
            </a:r>
          </a:p>
          <a:p>
            <a:pPr marL="800100" lvl="1" indent="-342900" algn="just">
              <a:buFont typeface="Arial" panose="020B0604020202020204" pitchFamily="34" charset="0"/>
              <a:buChar char="•"/>
            </a:pPr>
            <a:r>
              <a:rPr lang="en-US" b="1" kern="0" dirty="0">
                <a:solidFill>
                  <a:srgbClr val="FF0000"/>
                </a:solidFill>
              </a:rPr>
              <a:t>LO1: 3 points</a:t>
            </a:r>
          </a:p>
          <a:p>
            <a:pPr marL="800100" lvl="1" indent="-342900" algn="just">
              <a:buFont typeface="Arial" panose="020B0604020202020204" pitchFamily="34" charset="0"/>
              <a:buChar char="•"/>
            </a:pPr>
            <a:r>
              <a:rPr lang="en-US" b="1" kern="0" dirty="0">
                <a:solidFill>
                  <a:srgbClr val="FF0000"/>
                </a:solidFill>
              </a:rPr>
              <a:t>LO2: 3 points</a:t>
            </a:r>
          </a:p>
          <a:p>
            <a:pPr marL="800100" lvl="1" indent="-342900" algn="just">
              <a:buFont typeface="Arial" panose="020B0604020202020204" pitchFamily="34" charset="0"/>
              <a:buChar char="•"/>
            </a:pPr>
            <a:r>
              <a:rPr lang="en-US" b="1" kern="0" dirty="0">
                <a:solidFill>
                  <a:srgbClr val="FF0000"/>
                </a:solidFill>
              </a:rPr>
              <a:t>LO3: 1 points</a:t>
            </a:r>
          </a:p>
          <a:p>
            <a:pPr marL="800100" lvl="1" indent="-342900" algn="just">
              <a:buFont typeface="Arial" panose="020B0604020202020204" pitchFamily="34" charset="0"/>
              <a:buChar char="•"/>
            </a:pPr>
            <a:r>
              <a:rPr lang="en-US" b="1" kern="0" dirty="0">
                <a:solidFill>
                  <a:srgbClr val="FF0000"/>
                </a:solidFill>
              </a:rPr>
              <a:t>LO4: 3 points</a:t>
            </a:r>
          </a:p>
          <a:p>
            <a:pPr algn="just"/>
            <a:endParaRPr lang="en-US" b="1" i="1" dirty="0"/>
          </a:p>
          <a:p>
            <a:pPr algn="just"/>
            <a:endParaRPr lang="en-US" sz="2000" b="1" i="1" dirty="0"/>
          </a:p>
          <a:p>
            <a:pPr algn="just"/>
            <a:endParaRPr lang="en-US" sz="2000" kern="0" dirty="0">
              <a:solidFill>
                <a:sysClr val="windowText" lastClr="000000"/>
              </a:solidFill>
            </a:endParaRPr>
          </a:p>
        </p:txBody>
      </p:sp>
    </p:spTree>
    <p:extLst>
      <p:ext uri="{BB962C8B-B14F-4D97-AF65-F5344CB8AC3E}">
        <p14:creationId xmlns:p14="http://schemas.microsoft.com/office/powerpoint/2010/main" val="5602346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80DA9C-35AF-A1D7-01E5-BFD9DEF1550F}"/>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471E1424-6C4B-2D9A-1352-30AFB987AD41}"/>
              </a:ext>
            </a:extLst>
          </p:cNvPr>
          <p:cNvSpPr txBox="1">
            <a:spLocks noGrp="1"/>
          </p:cNvSpPr>
          <p:nvPr>
            <p:ph type="title"/>
          </p:nvPr>
        </p:nvSpPr>
        <p:spPr>
          <a:xfrm>
            <a:off x="685800" y="408883"/>
            <a:ext cx="10994410" cy="705321"/>
          </a:xfrm>
          <a:prstGeom prst="rect">
            <a:avLst/>
          </a:prstGeom>
        </p:spPr>
        <p:txBody>
          <a:bodyPr vert="horz" wrap="square" lIns="0" tIns="12700" rIns="0" bIns="0" rtlCol="0">
            <a:spAutoFit/>
          </a:bodyPr>
          <a:lstStyle/>
          <a:p>
            <a:pPr marL="12700">
              <a:lnSpc>
                <a:spcPct val="100000"/>
              </a:lnSpc>
              <a:spcBef>
                <a:spcPts val="100"/>
              </a:spcBef>
            </a:pPr>
            <a:r>
              <a:rPr lang="en-US" sz="2500" dirty="0"/>
              <a:t>Learning outcome #1a – Notebook section 1. Technology</a:t>
            </a:r>
            <a:br>
              <a:rPr lang="es-ES" sz="2500" spc="-5" dirty="0">
                <a:latin typeface="+mj-lt"/>
                <a:cs typeface="Lucida Sans"/>
              </a:rPr>
            </a:br>
            <a:r>
              <a:rPr lang="es-ES" b="0" i="1" spc="-5" dirty="0">
                <a:latin typeface="+mj-lt"/>
              </a:rPr>
              <a:t>“</a:t>
            </a:r>
            <a:r>
              <a:rPr lang="es-ES" b="0" i="1" spc="-5" dirty="0" err="1">
                <a:latin typeface="+mj-lt"/>
              </a:rPr>
              <a:t>We</a:t>
            </a:r>
            <a:r>
              <a:rPr lang="es-ES" b="0" i="1" spc="-5" dirty="0">
                <a:latin typeface="+mj-lt"/>
              </a:rPr>
              <a:t> </a:t>
            </a:r>
            <a:r>
              <a:rPr lang="es-ES" b="0" i="1" spc="-5" dirty="0" err="1">
                <a:latin typeface="+mj-lt"/>
              </a:rPr>
              <a:t>will</a:t>
            </a:r>
            <a:r>
              <a:rPr lang="es-ES" b="0" i="1" spc="-5" dirty="0">
                <a:latin typeface="+mj-lt"/>
              </a:rPr>
              <a:t> </a:t>
            </a:r>
            <a:r>
              <a:rPr lang="es-ES" b="0" i="1" spc="-5" dirty="0" err="1">
                <a:latin typeface="+mj-lt"/>
              </a:rPr>
              <a:t>work</a:t>
            </a:r>
            <a:r>
              <a:rPr lang="es-ES" b="0" i="1" spc="-5" dirty="0">
                <a:latin typeface="+mj-lt"/>
                <a:cs typeface="Lucida Sans"/>
              </a:rPr>
              <a:t> </a:t>
            </a:r>
            <a:r>
              <a:rPr lang="es-ES" b="0" i="1" spc="-5" dirty="0" err="1">
                <a:latin typeface="+mj-lt"/>
                <a:cs typeface="Lucida Sans"/>
              </a:rPr>
              <a:t>with</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demo UPVfab PDK. </a:t>
            </a:r>
            <a:r>
              <a:rPr lang="es-ES" b="0" i="1" spc="-5" dirty="0" err="1">
                <a:latin typeface="+mj-lt"/>
                <a:cs typeface="Lucida Sans"/>
              </a:rPr>
              <a:t>Let's</a:t>
            </a:r>
            <a:r>
              <a:rPr lang="es-ES" b="0" i="1" spc="-5" dirty="0">
                <a:latin typeface="+mj-lt"/>
                <a:cs typeface="Lucida Sans"/>
              </a:rPr>
              <a:t> </a:t>
            </a:r>
            <a:r>
              <a:rPr lang="es-ES" b="0" i="1" spc="-5" dirty="0" err="1">
                <a:latin typeface="+mj-lt"/>
                <a:cs typeface="Lucida Sans"/>
              </a:rPr>
              <a:t>view</a:t>
            </a:r>
            <a:r>
              <a:rPr lang="es-ES" b="0" i="1" spc="-5" dirty="0">
                <a:latin typeface="+mj-lt"/>
                <a:cs typeface="Lucida Sans"/>
              </a:rPr>
              <a:t> </a:t>
            </a:r>
            <a:r>
              <a:rPr lang="es-ES" b="0" i="1" spc="-5" dirty="0" err="1">
                <a:latin typeface="+mj-lt"/>
                <a:cs typeface="Lucida Sans"/>
              </a:rPr>
              <a:t>the</a:t>
            </a:r>
            <a:r>
              <a:rPr lang="es-ES" b="0" i="1" spc="-5" dirty="0">
                <a:latin typeface="+mj-lt"/>
                <a:cs typeface="Lucida Sans"/>
              </a:rPr>
              <a:t> </a:t>
            </a:r>
            <a:r>
              <a:rPr lang="es-ES" b="0" i="1" spc="-5" dirty="0" err="1">
                <a:latin typeface="+mj-lt"/>
                <a:cs typeface="Lucida Sans"/>
              </a:rPr>
              <a:t>layer</a:t>
            </a:r>
            <a:r>
              <a:rPr lang="es-ES" b="0" i="1" spc="-5" dirty="0">
                <a:latin typeface="+mj-lt"/>
                <a:cs typeface="Lucida Sans"/>
              </a:rPr>
              <a:t> </a:t>
            </a:r>
            <a:r>
              <a:rPr lang="es-ES" b="0" i="1" spc="-5" dirty="0" err="1">
                <a:latin typeface="+mj-lt"/>
                <a:cs typeface="Lucida Sans"/>
              </a:rPr>
              <a:t>distribution</a:t>
            </a:r>
            <a:r>
              <a:rPr lang="es-ES" b="0" i="1" spc="-5" dirty="0">
                <a:latin typeface="+mj-lt"/>
                <a:cs typeface="Lucida Sans"/>
              </a:rPr>
              <a:t> </a:t>
            </a:r>
            <a:r>
              <a:rPr lang="es-ES" b="0" i="1" spc="-5" dirty="0" err="1">
                <a:latin typeface="+mj-lt"/>
                <a:cs typeface="Lucida Sans"/>
              </a:rPr>
              <a:t>of</a:t>
            </a:r>
            <a:r>
              <a:rPr lang="es-ES" b="0" i="1" spc="-5" dirty="0">
                <a:latin typeface="+mj-lt"/>
                <a:cs typeface="Lucida Sans"/>
              </a:rPr>
              <a:t> </a:t>
            </a:r>
            <a:r>
              <a:rPr lang="es-ES" b="0" i="1" spc="-5" dirty="0" err="1">
                <a:latin typeface="+mj-lt"/>
                <a:cs typeface="Lucida Sans"/>
              </a:rPr>
              <a:t>this</a:t>
            </a:r>
            <a:r>
              <a:rPr lang="es-ES" b="0" i="1" spc="-5" dirty="0">
                <a:latin typeface="+mj-lt"/>
                <a:cs typeface="Lucida Sans"/>
              </a:rPr>
              <a:t> PDK”</a:t>
            </a:r>
            <a:endParaRPr sz="2500" b="0" i="1" dirty="0">
              <a:latin typeface="+mj-lt"/>
              <a:cs typeface="Lucida Sans"/>
            </a:endParaRPr>
          </a:p>
        </p:txBody>
      </p:sp>
      <p:pic>
        <p:nvPicPr>
          <p:cNvPr id="83" name="Gráfico 82">
            <a:extLst>
              <a:ext uri="{FF2B5EF4-FFF2-40B4-BE49-F238E27FC236}">
                <a16:creationId xmlns:a16="http://schemas.microsoft.com/office/drawing/2014/main" id="{9DCFD462-4416-65F8-5696-B0135B63276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293F5C1D-AFFF-4EA6-CA59-6503F34EBF5F}"/>
              </a:ext>
            </a:extLst>
          </p:cNvPr>
          <p:cNvSpPr>
            <a:spLocks noGrp="1"/>
          </p:cNvSpPr>
          <p:nvPr>
            <p:ph type="sldNum" sz="quarter" idx="7"/>
          </p:nvPr>
        </p:nvSpPr>
        <p:spPr/>
        <p:txBody>
          <a:bodyPr/>
          <a:lstStyle/>
          <a:p>
            <a:fld id="{B6F15528-21DE-4FAA-801E-634DDDAF4B2B}" type="slidenum">
              <a:rPr lang="es-ES" smtClean="0"/>
              <a:t>3</a:t>
            </a:fld>
            <a:endParaRPr lang="es-ES"/>
          </a:p>
        </p:txBody>
      </p:sp>
      <p:sp>
        <p:nvSpPr>
          <p:cNvPr id="3" name="Marcador de pie de página 2">
            <a:extLst>
              <a:ext uri="{FF2B5EF4-FFF2-40B4-BE49-F238E27FC236}">
                <a16:creationId xmlns:a16="http://schemas.microsoft.com/office/drawing/2014/main" id="{34F13AC1-9668-7266-DF5B-D7CE084AB044}"/>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magine 4">
            <a:extLst>
              <a:ext uri="{FF2B5EF4-FFF2-40B4-BE49-F238E27FC236}">
                <a16:creationId xmlns:a16="http://schemas.microsoft.com/office/drawing/2014/main" id="{33753AA5-A1F7-669C-C16D-5561D0305470}"/>
              </a:ext>
            </a:extLst>
          </p:cNvPr>
          <p:cNvPicPr>
            <a:picLocks noChangeAspect="1"/>
          </p:cNvPicPr>
          <p:nvPr/>
        </p:nvPicPr>
        <p:blipFill>
          <a:blip r:embed="rId5"/>
          <a:stretch>
            <a:fillRect/>
          </a:stretch>
        </p:blipFill>
        <p:spPr>
          <a:xfrm>
            <a:off x="914400" y="1274867"/>
            <a:ext cx="3953427" cy="1343212"/>
          </a:xfrm>
          <a:prstGeom prst="rect">
            <a:avLst/>
          </a:prstGeom>
        </p:spPr>
      </p:pic>
      <p:pic>
        <p:nvPicPr>
          <p:cNvPr id="11" name="Immagine 10">
            <a:extLst>
              <a:ext uri="{FF2B5EF4-FFF2-40B4-BE49-F238E27FC236}">
                <a16:creationId xmlns:a16="http://schemas.microsoft.com/office/drawing/2014/main" id="{C9EB81C6-31FB-43A4-78BD-6D577834397B}"/>
              </a:ext>
            </a:extLst>
          </p:cNvPr>
          <p:cNvPicPr>
            <a:picLocks noChangeAspect="1"/>
          </p:cNvPicPr>
          <p:nvPr/>
        </p:nvPicPr>
        <p:blipFill>
          <a:blip r:embed="rId6"/>
          <a:stretch>
            <a:fillRect/>
          </a:stretch>
        </p:blipFill>
        <p:spPr>
          <a:xfrm>
            <a:off x="5443718" y="1274867"/>
            <a:ext cx="6672082" cy="5036768"/>
          </a:xfrm>
          <a:prstGeom prst="rect">
            <a:avLst/>
          </a:prstGeom>
        </p:spPr>
      </p:pic>
      <p:sp>
        <p:nvSpPr>
          <p:cNvPr id="4" name="CasellaDiTesto 3">
            <a:extLst>
              <a:ext uri="{FF2B5EF4-FFF2-40B4-BE49-F238E27FC236}">
                <a16:creationId xmlns:a16="http://schemas.microsoft.com/office/drawing/2014/main" id="{1EFC2F4C-FF2D-DD4A-275E-927D46EE0E66}"/>
              </a:ext>
            </a:extLst>
          </p:cNvPr>
          <p:cNvSpPr txBox="1"/>
          <p:nvPr/>
        </p:nvSpPr>
        <p:spPr>
          <a:xfrm>
            <a:off x="381000" y="2819400"/>
            <a:ext cx="4664006" cy="3754874"/>
          </a:xfrm>
          <a:prstGeom prst="rect">
            <a:avLst/>
          </a:prstGeom>
          <a:noFill/>
        </p:spPr>
        <p:txBody>
          <a:bodyPr wrap="square" rtlCol="0">
            <a:spAutoFit/>
          </a:bodyPr>
          <a:lstStyle/>
          <a:p>
            <a:r>
              <a:rPr lang="en-US" sz="1400" dirty="0"/>
              <a:t>A PDK is a Process Design Kit, a collection of rules, models and pre-built components that tells you how to design chips for a specific fabrication process.</a:t>
            </a:r>
          </a:p>
          <a:p>
            <a:r>
              <a:rPr lang="en-US" sz="1400" dirty="0"/>
              <a:t>In general, the layers for layout in a PDK represent the different physical materials and fabrication steps that make up the chip, each one corresponding to something that gets deposited, etched or patterned during manufacturing.</a:t>
            </a:r>
          </a:p>
          <a:p>
            <a:r>
              <a:rPr lang="en-US" sz="1400" dirty="0"/>
              <a:t>For our particular PDK we find the following layers, with number and label/description:</a:t>
            </a:r>
          </a:p>
          <a:p>
            <a:r>
              <a:rPr lang="en-US" sz="1400" dirty="0"/>
              <a:t>WG 1/0, the main waveguide layer where light travels, HEATER 4/0, the metal heater used for thermal tuning, SLAB 21/0, the partial etch slab region for rib waveguides, PAD 41/0, the electrical contact pads for wire bonding, FLOORPLAN 99/0, the die boundary and dicing lines, LABEL SETTINGS 100/0, layer for design labels and annotations, LABEL INSTANCE 101/0, layer for instance reference labels.</a:t>
            </a:r>
          </a:p>
          <a:p>
            <a:endParaRPr lang="it-IT" sz="1400" dirty="0"/>
          </a:p>
        </p:txBody>
      </p:sp>
    </p:spTree>
    <p:extLst>
      <p:ext uri="{BB962C8B-B14F-4D97-AF65-F5344CB8AC3E}">
        <p14:creationId xmlns:p14="http://schemas.microsoft.com/office/powerpoint/2010/main" val="7305013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21758-3D0C-3510-194A-4075C73D458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74F925C6-A9EE-0450-6CF3-EB5E905BE7E0}"/>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just">
              <a:lnSpc>
                <a:spcPct val="100000"/>
              </a:lnSpc>
              <a:spcBef>
                <a:spcPts val="100"/>
              </a:spcBef>
            </a:pPr>
            <a:r>
              <a:rPr lang="en-US" sz="2500" dirty="0"/>
              <a:t>Learning outcome #1b – Notebook section 1. Technology – </a:t>
            </a:r>
            <a:r>
              <a:rPr lang="en-US" sz="2500" dirty="0">
                <a:solidFill>
                  <a:srgbClr val="FF0000"/>
                </a:solidFill>
              </a:rPr>
              <a:t>1 slide per component</a:t>
            </a:r>
            <a:br>
              <a:rPr lang="en-US" sz="2500" dirty="0"/>
            </a:br>
            <a:r>
              <a:rPr lang="en-US" sz="1800" b="0" i="1" dirty="0"/>
              <a:t>“Use your design results from Lab2 and Lab3 to create layout instances of your designed components: DCs, MMIs, MZIs &amp; Ring Resonators”</a:t>
            </a:r>
            <a:endParaRPr sz="2500" b="0" i="1" dirty="0">
              <a:latin typeface="+mj-lt"/>
              <a:cs typeface="Lucida Sans"/>
            </a:endParaRPr>
          </a:p>
        </p:txBody>
      </p:sp>
      <p:pic>
        <p:nvPicPr>
          <p:cNvPr id="83" name="Gráfico 82">
            <a:extLst>
              <a:ext uri="{FF2B5EF4-FFF2-40B4-BE49-F238E27FC236}">
                <a16:creationId xmlns:a16="http://schemas.microsoft.com/office/drawing/2014/main" id="{61751C67-979A-7D64-9474-F594568485E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5A815B6-7BA3-E2CF-377E-EACA0F621FAA}"/>
              </a:ext>
            </a:extLst>
          </p:cNvPr>
          <p:cNvSpPr>
            <a:spLocks noGrp="1"/>
          </p:cNvSpPr>
          <p:nvPr>
            <p:ph type="sldNum" sz="quarter" idx="7"/>
          </p:nvPr>
        </p:nvSpPr>
        <p:spPr/>
        <p:txBody>
          <a:bodyPr/>
          <a:lstStyle/>
          <a:p>
            <a:fld id="{B6F15528-21DE-4FAA-801E-634DDDAF4B2B}" type="slidenum">
              <a:rPr lang="es-ES" smtClean="0"/>
              <a:t>4</a:t>
            </a:fld>
            <a:endParaRPr lang="es-ES"/>
          </a:p>
        </p:txBody>
      </p:sp>
      <p:sp>
        <p:nvSpPr>
          <p:cNvPr id="3" name="Marcador de pie de página 2">
            <a:extLst>
              <a:ext uri="{FF2B5EF4-FFF2-40B4-BE49-F238E27FC236}">
                <a16:creationId xmlns:a16="http://schemas.microsoft.com/office/drawing/2014/main" id="{018AEC9F-5174-0EEA-5CD3-65515392F16F}"/>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A1BE4500-9BE4-025B-9167-E8AC6466B028}"/>
              </a:ext>
            </a:extLst>
          </p:cNvPr>
          <p:cNvSpPr txBox="1"/>
          <p:nvPr/>
        </p:nvSpPr>
        <p:spPr>
          <a:xfrm>
            <a:off x="496014" y="2810764"/>
            <a:ext cx="11199971" cy="1938992"/>
          </a:xfrm>
          <a:prstGeom prst="rect">
            <a:avLst/>
          </a:prstGeom>
          <a:solidFill>
            <a:schemeClr val="bg1">
              <a:lumMod val="95000"/>
            </a:schemeClr>
          </a:solidFill>
          <a:ln w="28575">
            <a:solidFill>
              <a:srgbClr val="E0700D"/>
            </a:solidFill>
          </a:ln>
        </p:spPr>
        <p:txBody>
          <a:bodyPr wrap="square" rtlCol="0">
            <a:spAutoFit/>
          </a:bodyPr>
          <a:lstStyle/>
          <a:p>
            <a:pPr algn="just"/>
            <a:r>
              <a:rPr lang="en-US" sz="2400" dirty="0">
                <a:latin typeface="Arial" panose="020B0604020202020204" pitchFamily="34" charset="0"/>
                <a:cs typeface="Arial" panose="020B0604020202020204" pitchFamily="34" charset="0"/>
              </a:rPr>
              <a:t>Describe component. </a:t>
            </a:r>
            <a:r>
              <a:rPr lang="en-US" sz="2400" dirty="0">
                <a:solidFill>
                  <a:srgbClr val="FF0000"/>
                </a:solidFill>
                <a:latin typeface="Arial" panose="020B0604020202020204" pitchFamily="34" charset="0"/>
                <a:cs typeface="Arial" panose="020B0604020202020204" pitchFamily="34" charset="0"/>
              </a:rPr>
              <a:t>Example</a:t>
            </a:r>
            <a:r>
              <a:rPr lang="en-US" sz="2400" dirty="0">
                <a:latin typeface="Arial" panose="020B0604020202020204" pitchFamily="34" charset="0"/>
                <a:cs typeface="Arial" panose="020B0604020202020204" pitchFamily="34" charset="0"/>
              </a:rPr>
              <a:t>: this is the MMI we designed in Lab2, it is a 2x2 with paired interference, target coupling constant K = 0.5. The relevant dimensions are W_MMI = XX µm L_MMI = YY µm and the I/O positions with respect to center are at +/- </a:t>
            </a:r>
            <a:r>
              <a:rPr lang="en-US" sz="2400" dirty="0" err="1">
                <a:latin typeface="Arial" panose="020B0604020202020204" pitchFamily="34" charset="0"/>
                <a:cs typeface="Arial" panose="020B0604020202020204" pitchFamily="34" charset="0"/>
              </a:rPr>
              <a:t>dY</a:t>
            </a:r>
            <a:r>
              <a:rPr lang="en-US" sz="2400" dirty="0">
                <a:latin typeface="Arial" panose="020B0604020202020204" pitchFamily="34" charset="0"/>
                <a:cs typeface="Arial" panose="020B0604020202020204" pitchFamily="34" charset="0"/>
              </a:rPr>
              <a:t> µm</a:t>
            </a:r>
          </a:p>
          <a:p>
            <a:pPr algn="just"/>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6424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magine 8">
            <a:extLst>
              <a:ext uri="{FF2B5EF4-FFF2-40B4-BE49-F238E27FC236}">
                <a16:creationId xmlns:a16="http://schemas.microsoft.com/office/drawing/2014/main" id="{F52A8A04-F3F1-D349-9335-9309CBC9D7C2}"/>
              </a:ext>
            </a:extLst>
          </p:cNvPr>
          <p:cNvPicPr>
            <a:picLocks noChangeAspect="1"/>
          </p:cNvPicPr>
          <p:nvPr/>
        </p:nvPicPr>
        <p:blipFill>
          <a:blip r:embed="rId2"/>
          <a:stretch>
            <a:fillRect/>
          </a:stretch>
        </p:blipFill>
        <p:spPr>
          <a:xfrm>
            <a:off x="224714" y="579991"/>
            <a:ext cx="3777902" cy="994185"/>
          </a:xfrm>
          <a:prstGeom prst="rect">
            <a:avLst/>
          </a:prstGeom>
        </p:spPr>
      </p:pic>
      <p:pic>
        <p:nvPicPr>
          <p:cNvPr id="11" name="Immagine 10">
            <a:extLst>
              <a:ext uri="{FF2B5EF4-FFF2-40B4-BE49-F238E27FC236}">
                <a16:creationId xmlns:a16="http://schemas.microsoft.com/office/drawing/2014/main" id="{B16B8B90-69E8-1E2F-C918-5B9FD806CBF7}"/>
              </a:ext>
            </a:extLst>
          </p:cNvPr>
          <p:cNvPicPr>
            <a:picLocks noChangeAspect="1"/>
          </p:cNvPicPr>
          <p:nvPr/>
        </p:nvPicPr>
        <p:blipFill>
          <a:blip r:embed="rId3"/>
          <a:stretch>
            <a:fillRect/>
          </a:stretch>
        </p:blipFill>
        <p:spPr>
          <a:xfrm>
            <a:off x="4131028" y="390446"/>
            <a:ext cx="4034726" cy="3045822"/>
          </a:xfrm>
          <a:prstGeom prst="rect">
            <a:avLst/>
          </a:prstGeom>
        </p:spPr>
      </p:pic>
      <p:pic>
        <p:nvPicPr>
          <p:cNvPr id="15" name="Immagine 14">
            <a:extLst>
              <a:ext uri="{FF2B5EF4-FFF2-40B4-BE49-F238E27FC236}">
                <a16:creationId xmlns:a16="http://schemas.microsoft.com/office/drawing/2014/main" id="{6AD36176-8F19-41AE-3DD7-68DD21515CC2}"/>
              </a:ext>
            </a:extLst>
          </p:cNvPr>
          <p:cNvPicPr>
            <a:picLocks noChangeAspect="1"/>
          </p:cNvPicPr>
          <p:nvPr/>
        </p:nvPicPr>
        <p:blipFill>
          <a:blip r:embed="rId4"/>
          <a:stretch>
            <a:fillRect/>
          </a:stretch>
        </p:blipFill>
        <p:spPr>
          <a:xfrm>
            <a:off x="4170806" y="3541793"/>
            <a:ext cx="4034725" cy="3045822"/>
          </a:xfrm>
          <a:prstGeom prst="rect">
            <a:avLst/>
          </a:prstGeom>
        </p:spPr>
      </p:pic>
      <p:sp>
        <p:nvSpPr>
          <p:cNvPr id="20" name="CasellaDiTesto 19">
            <a:extLst>
              <a:ext uri="{FF2B5EF4-FFF2-40B4-BE49-F238E27FC236}">
                <a16:creationId xmlns:a16="http://schemas.microsoft.com/office/drawing/2014/main" id="{FBF4D08F-97E9-D77E-0DE4-FD0C89A7CBD1}"/>
              </a:ext>
            </a:extLst>
          </p:cNvPr>
          <p:cNvSpPr txBox="1"/>
          <p:nvPr/>
        </p:nvSpPr>
        <p:spPr>
          <a:xfrm>
            <a:off x="8165754" y="741032"/>
            <a:ext cx="3886200" cy="2308324"/>
          </a:xfrm>
          <a:prstGeom prst="rect">
            <a:avLst/>
          </a:prstGeom>
          <a:noFill/>
        </p:spPr>
        <p:txBody>
          <a:bodyPr wrap="square" rtlCol="0">
            <a:spAutoFit/>
          </a:bodyPr>
          <a:lstStyle/>
          <a:p>
            <a:r>
              <a:rPr lang="en-US" b="1" dirty="0"/>
              <a:t>Directional Coupler</a:t>
            </a:r>
            <a:r>
              <a:rPr lang="en-US" dirty="0"/>
              <a:t> This is the directional coupler designed in Lab2. It uses evanescent coupling between two parallel waveguides. The waveguide has gap equal to 0.6 µm, and the coupling length is set to </a:t>
            </a:r>
            <a:r>
              <a:rPr lang="en-US" dirty="0" err="1"/>
              <a:t>Lpi</a:t>
            </a:r>
            <a:r>
              <a:rPr lang="en-US" dirty="0"/>
              <a:t>/2 equal to 14.5 µm to achieve a 50/50 power split at 1.55 µm.</a:t>
            </a:r>
            <a:endParaRPr lang="it-IT" dirty="0"/>
          </a:p>
        </p:txBody>
      </p:sp>
      <p:sp>
        <p:nvSpPr>
          <p:cNvPr id="21" name="CasellaDiTesto 20">
            <a:extLst>
              <a:ext uri="{FF2B5EF4-FFF2-40B4-BE49-F238E27FC236}">
                <a16:creationId xmlns:a16="http://schemas.microsoft.com/office/drawing/2014/main" id="{E3E68CE1-9BFB-057B-D148-075F8A5687E4}"/>
              </a:ext>
            </a:extLst>
          </p:cNvPr>
          <p:cNvSpPr txBox="1"/>
          <p:nvPr/>
        </p:nvSpPr>
        <p:spPr>
          <a:xfrm>
            <a:off x="8305800" y="3772320"/>
            <a:ext cx="3886200" cy="2585323"/>
          </a:xfrm>
          <a:prstGeom prst="rect">
            <a:avLst/>
          </a:prstGeom>
          <a:noFill/>
        </p:spPr>
        <p:txBody>
          <a:bodyPr wrap="square" rtlCol="0">
            <a:spAutoFit/>
          </a:bodyPr>
          <a:lstStyle/>
          <a:p>
            <a:r>
              <a:rPr lang="en-US" b="1" dirty="0"/>
              <a:t>2x2 MMI</a:t>
            </a:r>
            <a:r>
              <a:rPr lang="en-US" dirty="0"/>
              <a:t> This is the 2x2 MMI coupler designed in Lab2. It uses multimode interference to split the input signal equally between two output ports, targeting a coupling constant K equal to 0.5. The MMI body width is 6.6 µm, the length is 42.5 µm, and the I/O waveguide positions are at plus and minus 1.0 µm from the center.</a:t>
            </a:r>
            <a:endParaRPr lang="it-IT" dirty="0"/>
          </a:p>
        </p:txBody>
      </p:sp>
      <p:pic>
        <p:nvPicPr>
          <p:cNvPr id="32" name="Immagine 31">
            <a:extLst>
              <a:ext uri="{FF2B5EF4-FFF2-40B4-BE49-F238E27FC236}">
                <a16:creationId xmlns:a16="http://schemas.microsoft.com/office/drawing/2014/main" id="{087B841B-8B0A-FC96-5090-5E301B116588}"/>
              </a:ext>
            </a:extLst>
          </p:cNvPr>
          <p:cNvPicPr>
            <a:picLocks noChangeAspect="1"/>
          </p:cNvPicPr>
          <p:nvPr/>
        </p:nvPicPr>
        <p:blipFill>
          <a:blip r:embed="rId5"/>
          <a:stretch>
            <a:fillRect/>
          </a:stretch>
        </p:blipFill>
        <p:spPr>
          <a:xfrm>
            <a:off x="65422" y="1732582"/>
            <a:ext cx="4002616" cy="961291"/>
          </a:xfrm>
          <a:prstGeom prst="rect">
            <a:avLst/>
          </a:prstGeom>
        </p:spPr>
      </p:pic>
      <p:pic>
        <p:nvPicPr>
          <p:cNvPr id="40" name="Immagine 39">
            <a:extLst>
              <a:ext uri="{FF2B5EF4-FFF2-40B4-BE49-F238E27FC236}">
                <a16:creationId xmlns:a16="http://schemas.microsoft.com/office/drawing/2014/main" id="{B156704D-8D3B-119B-A1C3-9FFDBBE3BAFE}"/>
              </a:ext>
            </a:extLst>
          </p:cNvPr>
          <p:cNvPicPr>
            <a:picLocks noChangeAspect="1"/>
          </p:cNvPicPr>
          <p:nvPr/>
        </p:nvPicPr>
        <p:blipFill>
          <a:blip r:embed="rId6"/>
          <a:stretch>
            <a:fillRect/>
          </a:stretch>
        </p:blipFill>
        <p:spPr>
          <a:xfrm>
            <a:off x="222343" y="4183369"/>
            <a:ext cx="3734991" cy="876911"/>
          </a:xfrm>
          <a:prstGeom prst="rect">
            <a:avLst/>
          </a:prstGeom>
        </p:spPr>
      </p:pic>
      <p:pic>
        <p:nvPicPr>
          <p:cNvPr id="42" name="Immagine 41">
            <a:extLst>
              <a:ext uri="{FF2B5EF4-FFF2-40B4-BE49-F238E27FC236}">
                <a16:creationId xmlns:a16="http://schemas.microsoft.com/office/drawing/2014/main" id="{DE787DEE-21C7-AADD-59C7-FF1946E77F2D}"/>
              </a:ext>
            </a:extLst>
          </p:cNvPr>
          <p:cNvPicPr>
            <a:picLocks noChangeAspect="1"/>
          </p:cNvPicPr>
          <p:nvPr/>
        </p:nvPicPr>
        <p:blipFill>
          <a:blip r:embed="rId7"/>
          <a:stretch>
            <a:fillRect/>
          </a:stretch>
        </p:blipFill>
        <p:spPr>
          <a:xfrm>
            <a:off x="81661" y="5287024"/>
            <a:ext cx="3986377" cy="916019"/>
          </a:xfrm>
          <a:prstGeom prst="rect">
            <a:avLst/>
          </a:prstGeom>
        </p:spPr>
      </p:pic>
    </p:spTree>
    <p:extLst>
      <p:ext uri="{BB962C8B-B14F-4D97-AF65-F5344CB8AC3E}">
        <p14:creationId xmlns:p14="http://schemas.microsoft.com/office/powerpoint/2010/main" val="39465128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CasellaDiTesto 15">
            <a:extLst>
              <a:ext uri="{FF2B5EF4-FFF2-40B4-BE49-F238E27FC236}">
                <a16:creationId xmlns:a16="http://schemas.microsoft.com/office/drawing/2014/main" id="{BA824DFF-129A-99D1-94BA-35045C6CA3E5}"/>
              </a:ext>
            </a:extLst>
          </p:cNvPr>
          <p:cNvSpPr txBox="1"/>
          <p:nvPr/>
        </p:nvSpPr>
        <p:spPr>
          <a:xfrm>
            <a:off x="1362695" y="4182112"/>
            <a:ext cx="3886200" cy="1754326"/>
          </a:xfrm>
          <a:prstGeom prst="rect">
            <a:avLst/>
          </a:prstGeom>
          <a:noFill/>
        </p:spPr>
        <p:txBody>
          <a:bodyPr wrap="square" rtlCol="0">
            <a:spAutoFit/>
          </a:bodyPr>
          <a:lstStyle/>
          <a:p>
            <a:r>
              <a:rPr lang="en-US" b="1" dirty="0"/>
              <a:t>1x4 MMI</a:t>
            </a:r>
            <a:r>
              <a:rPr lang="en-US" dirty="0"/>
              <a:t> This is the 1x4 MMI coupler designed in Lab2. It splits a single input into four equal outputs using multimode interference. The MMI body width is 12 µm and the device is built as a two level tree of 1x2 MMI stages.</a:t>
            </a:r>
            <a:endParaRPr lang="it-IT" dirty="0"/>
          </a:p>
        </p:txBody>
      </p:sp>
      <p:pic>
        <p:nvPicPr>
          <p:cNvPr id="20" name="Immagine 19">
            <a:extLst>
              <a:ext uri="{FF2B5EF4-FFF2-40B4-BE49-F238E27FC236}">
                <a16:creationId xmlns:a16="http://schemas.microsoft.com/office/drawing/2014/main" id="{62CA7863-1B9E-9C18-A99E-17302955A4F3}"/>
              </a:ext>
            </a:extLst>
          </p:cNvPr>
          <p:cNvPicPr>
            <a:picLocks noChangeAspect="1"/>
          </p:cNvPicPr>
          <p:nvPr/>
        </p:nvPicPr>
        <p:blipFill>
          <a:blip r:embed="rId2"/>
          <a:stretch>
            <a:fillRect/>
          </a:stretch>
        </p:blipFill>
        <p:spPr>
          <a:xfrm>
            <a:off x="188704" y="122798"/>
            <a:ext cx="6791877" cy="2791540"/>
          </a:xfrm>
          <a:prstGeom prst="rect">
            <a:avLst/>
          </a:prstGeom>
        </p:spPr>
      </p:pic>
      <p:pic>
        <p:nvPicPr>
          <p:cNvPr id="22" name="Immagine 21">
            <a:extLst>
              <a:ext uri="{FF2B5EF4-FFF2-40B4-BE49-F238E27FC236}">
                <a16:creationId xmlns:a16="http://schemas.microsoft.com/office/drawing/2014/main" id="{58BB214F-4E53-A64C-BE6B-618B801CB62A}"/>
              </a:ext>
            </a:extLst>
          </p:cNvPr>
          <p:cNvPicPr>
            <a:picLocks noChangeAspect="1"/>
          </p:cNvPicPr>
          <p:nvPr/>
        </p:nvPicPr>
        <p:blipFill>
          <a:blip r:embed="rId3"/>
          <a:stretch>
            <a:fillRect/>
          </a:stretch>
        </p:blipFill>
        <p:spPr>
          <a:xfrm>
            <a:off x="7214549" y="866954"/>
            <a:ext cx="4706007" cy="1267002"/>
          </a:xfrm>
          <a:prstGeom prst="rect">
            <a:avLst/>
          </a:prstGeom>
        </p:spPr>
      </p:pic>
      <p:pic>
        <p:nvPicPr>
          <p:cNvPr id="24" name="Immagine 23">
            <a:extLst>
              <a:ext uri="{FF2B5EF4-FFF2-40B4-BE49-F238E27FC236}">
                <a16:creationId xmlns:a16="http://schemas.microsoft.com/office/drawing/2014/main" id="{CD044D07-45CF-83B4-76C8-4204A683545C}"/>
              </a:ext>
            </a:extLst>
          </p:cNvPr>
          <p:cNvPicPr>
            <a:picLocks noChangeAspect="1"/>
          </p:cNvPicPr>
          <p:nvPr/>
        </p:nvPicPr>
        <p:blipFill>
          <a:blip r:embed="rId4"/>
          <a:stretch>
            <a:fillRect/>
          </a:stretch>
        </p:blipFill>
        <p:spPr>
          <a:xfrm>
            <a:off x="6943106" y="2895600"/>
            <a:ext cx="5248894" cy="3962400"/>
          </a:xfrm>
          <a:prstGeom prst="rect">
            <a:avLst/>
          </a:prstGeom>
        </p:spPr>
      </p:pic>
      <p:sp>
        <p:nvSpPr>
          <p:cNvPr id="25" name="CasellaDiTesto 24">
            <a:extLst>
              <a:ext uri="{FF2B5EF4-FFF2-40B4-BE49-F238E27FC236}">
                <a16:creationId xmlns:a16="http://schemas.microsoft.com/office/drawing/2014/main" id="{D1EAC5CD-756E-949E-B0A3-DA65969B2586}"/>
              </a:ext>
            </a:extLst>
          </p:cNvPr>
          <p:cNvSpPr txBox="1"/>
          <p:nvPr/>
        </p:nvSpPr>
        <p:spPr>
          <a:xfrm>
            <a:off x="188704" y="2914338"/>
            <a:ext cx="6669296" cy="923330"/>
          </a:xfrm>
          <a:prstGeom prst="rect">
            <a:avLst/>
          </a:prstGeom>
          <a:noFill/>
        </p:spPr>
        <p:txBody>
          <a:bodyPr wrap="square" rtlCol="0">
            <a:spAutoFit/>
          </a:bodyPr>
          <a:lstStyle/>
          <a:p>
            <a:r>
              <a:rPr lang="it-IT" dirty="0" err="1"/>
              <a:t>There</a:t>
            </a:r>
            <a:r>
              <a:rPr lang="it-IT" dirty="0"/>
              <a:t> </a:t>
            </a:r>
            <a:r>
              <a:rPr lang="it-IT" dirty="0" err="1"/>
              <a:t>is</a:t>
            </a:r>
            <a:r>
              <a:rPr lang="it-IT" dirty="0"/>
              <a:t> no </a:t>
            </a:r>
            <a:r>
              <a:rPr lang="it-IT" dirty="0" err="1"/>
              <a:t>pre</a:t>
            </a:r>
            <a:r>
              <a:rPr lang="en-US" dirty="0"/>
              <a:t>-existing 1x4 MMI for cell. , only 1x2 or 2x2, therefore this component could only be achieved with the </a:t>
            </a:r>
            <a:r>
              <a:rPr lang="en-US" dirty="0" err="1"/>
              <a:t>gf.Component</a:t>
            </a:r>
            <a:r>
              <a:rPr lang="en-US" dirty="0"/>
              <a:t>() of the next practice Block</a:t>
            </a:r>
            <a:endParaRPr lang="it-IT" dirty="0"/>
          </a:p>
        </p:txBody>
      </p:sp>
    </p:spTree>
    <p:extLst>
      <p:ext uri="{BB962C8B-B14F-4D97-AF65-F5344CB8AC3E}">
        <p14:creationId xmlns:p14="http://schemas.microsoft.com/office/powerpoint/2010/main" val="29618971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piè di pagina 3">
            <a:extLst>
              <a:ext uri="{FF2B5EF4-FFF2-40B4-BE49-F238E27FC236}">
                <a16:creationId xmlns:a16="http://schemas.microsoft.com/office/drawing/2014/main" id="{61AC4E5D-7E4C-1A3F-7730-BBE649242BFE}"/>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5" name="Segnaposto numero diapositiva 4">
            <a:extLst>
              <a:ext uri="{FF2B5EF4-FFF2-40B4-BE49-F238E27FC236}">
                <a16:creationId xmlns:a16="http://schemas.microsoft.com/office/drawing/2014/main" id="{352A4397-1745-896A-88F0-49AA9BD91499}"/>
              </a:ext>
            </a:extLst>
          </p:cNvPr>
          <p:cNvSpPr>
            <a:spLocks noGrp="1"/>
          </p:cNvSpPr>
          <p:nvPr>
            <p:ph type="sldNum" sz="quarter" idx="7"/>
          </p:nvPr>
        </p:nvSpPr>
        <p:spPr/>
        <p:txBody>
          <a:bodyPr/>
          <a:lstStyle/>
          <a:p>
            <a:fld id="{B6F15528-21DE-4FAA-801E-634DDDAF4B2B}" type="slidenum">
              <a:rPr lang="it-IT" smtClean="0"/>
              <a:t>7</a:t>
            </a:fld>
            <a:endParaRPr lang="it-IT"/>
          </a:p>
        </p:txBody>
      </p:sp>
      <p:pic>
        <p:nvPicPr>
          <p:cNvPr id="6" name="Immagine 5">
            <a:extLst>
              <a:ext uri="{FF2B5EF4-FFF2-40B4-BE49-F238E27FC236}">
                <a16:creationId xmlns:a16="http://schemas.microsoft.com/office/drawing/2014/main" id="{483ED90E-2421-17C1-65E1-8EBC6AFA38C6}"/>
              </a:ext>
            </a:extLst>
          </p:cNvPr>
          <p:cNvPicPr>
            <a:picLocks noChangeAspect="1"/>
          </p:cNvPicPr>
          <p:nvPr/>
        </p:nvPicPr>
        <p:blipFill>
          <a:blip r:embed="rId2"/>
          <a:stretch>
            <a:fillRect/>
          </a:stretch>
        </p:blipFill>
        <p:spPr>
          <a:xfrm>
            <a:off x="5035111" y="4175950"/>
            <a:ext cx="3454631" cy="2607908"/>
          </a:xfrm>
          <a:prstGeom prst="rect">
            <a:avLst/>
          </a:prstGeom>
        </p:spPr>
      </p:pic>
      <p:pic>
        <p:nvPicPr>
          <p:cNvPr id="7" name="Immagine 6">
            <a:extLst>
              <a:ext uri="{FF2B5EF4-FFF2-40B4-BE49-F238E27FC236}">
                <a16:creationId xmlns:a16="http://schemas.microsoft.com/office/drawing/2014/main" id="{ED52C8CB-67DD-B6D7-3B1D-30F2AFEF8424}"/>
              </a:ext>
            </a:extLst>
          </p:cNvPr>
          <p:cNvPicPr>
            <a:picLocks noChangeAspect="1"/>
          </p:cNvPicPr>
          <p:nvPr/>
        </p:nvPicPr>
        <p:blipFill>
          <a:blip r:embed="rId3"/>
          <a:stretch>
            <a:fillRect/>
          </a:stretch>
        </p:blipFill>
        <p:spPr>
          <a:xfrm>
            <a:off x="109290" y="4333399"/>
            <a:ext cx="4794043" cy="961815"/>
          </a:xfrm>
          <a:prstGeom prst="rect">
            <a:avLst/>
          </a:prstGeom>
        </p:spPr>
      </p:pic>
      <p:sp>
        <p:nvSpPr>
          <p:cNvPr id="8" name="CasellaDiTesto 7">
            <a:extLst>
              <a:ext uri="{FF2B5EF4-FFF2-40B4-BE49-F238E27FC236}">
                <a16:creationId xmlns:a16="http://schemas.microsoft.com/office/drawing/2014/main" id="{DC19D3CF-6F19-E602-5537-0BCB6748F8E6}"/>
              </a:ext>
            </a:extLst>
          </p:cNvPr>
          <p:cNvSpPr txBox="1"/>
          <p:nvPr/>
        </p:nvSpPr>
        <p:spPr>
          <a:xfrm>
            <a:off x="8621520" y="4333399"/>
            <a:ext cx="3381820" cy="2308324"/>
          </a:xfrm>
          <a:prstGeom prst="rect">
            <a:avLst/>
          </a:prstGeom>
          <a:noFill/>
        </p:spPr>
        <p:txBody>
          <a:bodyPr wrap="square" rtlCol="0">
            <a:spAutoFit/>
          </a:bodyPr>
          <a:lstStyle/>
          <a:p>
            <a:r>
              <a:rPr lang="en-US" b="1" dirty="0"/>
              <a:t>Ring Resonator</a:t>
            </a:r>
            <a:r>
              <a:rPr lang="en-US" dirty="0"/>
              <a:t> This is the all-pass ring resonator designed in Lab3. It uses a 2x2 MMI as the coupler with coupling constant K equal to 0.5. The ring perimeter is 80.08 µm, chosen to achieve a free spectral range of 15 nm at 1.55 µm with a group index of 2.0.</a:t>
            </a:r>
            <a:endParaRPr lang="it-IT" dirty="0"/>
          </a:p>
        </p:txBody>
      </p:sp>
      <p:pic>
        <p:nvPicPr>
          <p:cNvPr id="10" name="Immagine 9">
            <a:extLst>
              <a:ext uri="{FF2B5EF4-FFF2-40B4-BE49-F238E27FC236}">
                <a16:creationId xmlns:a16="http://schemas.microsoft.com/office/drawing/2014/main" id="{A210A856-A348-5C59-A617-1A1096EC611C}"/>
              </a:ext>
            </a:extLst>
          </p:cNvPr>
          <p:cNvPicPr>
            <a:picLocks noChangeAspect="1"/>
          </p:cNvPicPr>
          <p:nvPr/>
        </p:nvPicPr>
        <p:blipFill>
          <a:blip r:embed="rId4"/>
          <a:stretch>
            <a:fillRect/>
          </a:stretch>
        </p:blipFill>
        <p:spPr>
          <a:xfrm>
            <a:off x="72452" y="5449695"/>
            <a:ext cx="4867721" cy="835504"/>
          </a:xfrm>
          <a:prstGeom prst="rect">
            <a:avLst/>
          </a:prstGeom>
        </p:spPr>
      </p:pic>
      <p:pic>
        <p:nvPicPr>
          <p:cNvPr id="11" name="Immagine 10">
            <a:extLst>
              <a:ext uri="{FF2B5EF4-FFF2-40B4-BE49-F238E27FC236}">
                <a16:creationId xmlns:a16="http://schemas.microsoft.com/office/drawing/2014/main" id="{B81C01B0-BEA8-D45E-7D49-DBD618B430C6}"/>
              </a:ext>
            </a:extLst>
          </p:cNvPr>
          <p:cNvPicPr>
            <a:picLocks noChangeAspect="1"/>
          </p:cNvPicPr>
          <p:nvPr/>
        </p:nvPicPr>
        <p:blipFill>
          <a:blip r:embed="rId5"/>
          <a:stretch>
            <a:fillRect/>
          </a:stretch>
        </p:blipFill>
        <p:spPr>
          <a:xfrm>
            <a:off x="4940173" y="114084"/>
            <a:ext cx="3556281" cy="2684643"/>
          </a:xfrm>
          <a:prstGeom prst="rect">
            <a:avLst/>
          </a:prstGeom>
        </p:spPr>
      </p:pic>
      <p:pic>
        <p:nvPicPr>
          <p:cNvPr id="12" name="Immagine 11">
            <a:extLst>
              <a:ext uri="{FF2B5EF4-FFF2-40B4-BE49-F238E27FC236}">
                <a16:creationId xmlns:a16="http://schemas.microsoft.com/office/drawing/2014/main" id="{059DEF0A-73CF-BBDB-732B-338BBB12B0A1}"/>
              </a:ext>
            </a:extLst>
          </p:cNvPr>
          <p:cNvPicPr>
            <a:picLocks noChangeAspect="1"/>
          </p:cNvPicPr>
          <p:nvPr/>
        </p:nvPicPr>
        <p:blipFill>
          <a:blip r:embed="rId6"/>
          <a:stretch>
            <a:fillRect/>
          </a:stretch>
        </p:blipFill>
        <p:spPr>
          <a:xfrm>
            <a:off x="111175" y="114084"/>
            <a:ext cx="4794043" cy="965657"/>
          </a:xfrm>
          <a:prstGeom prst="rect">
            <a:avLst/>
          </a:prstGeom>
        </p:spPr>
      </p:pic>
      <p:sp>
        <p:nvSpPr>
          <p:cNvPr id="13" name="CasellaDiTesto 12">
            <a:extLst>
              <a:ext uri="{FF2B5EF4-FFF2-40B4-BE49-F238E27FC236}">
                <a16:creationId xmlns:a16="http://schemas.microsoft.com/office/drawing/2014/main" id="{045A8283-3FCB-11E7-8F21-017068C2D61E}"/>
              </a:ext>
            </a:extLst>
          </p:cNvPr>
          <p:cNvSpPr txBox="1"/>
          <p:nvPr/>
        </p:nvSpPr>
        <p:spPr>
          <a:xfrm>
            <a:off x="8621520" y="191680"/>
            <a:ext cx="3556281" cy="2585323"/>
          </a:xfrm>
          <a:prstGeom prst="rect">
            <a:avLst/>
          </a:prstGeom>
          <a:noFill/>
        </p:spPr>
        <p:txBody>
          <a:bodyPr wrap="square" rtlCol="0">
            <a:spAutoFit/>
          </a:bodyPr>
          <a:lstStyle/>
          <a:p>
            <a:r>
              <a:rPr lang="en-US" b="1" dirty="0"/>
              <a:t>MZI</a:t>
            </a:r>
            <a:r>
              <a:rPr lang="en-US" dirty="0"/>
              <a:t> This is the unbalanced Mach-Zehnder Interferometer designed in Lab3. It uses two 2x2 MMI couplers as splitter and combiner, with an arm length difference of 286 µm chosen to achieve a free spectral range of 2 nm at 1.55 µm, using a group index of 2.0.</a:t>
            </a:r>
          </a:p>
          <a:p>
            <a:endParaRPr lang="it-IT" dirty="0"/>
          </a:p>
        </p:txBody>
      </p:sp>
      <p:pic>
        <p:nvPicPr>
          <p:cNvPr id="15" name="Immagine 14">
            <a:extLst>
              <a:ext uri="{FF2B5EF4-FFF2-40B4-BE49-F238E27FC236}">
                <a16:creationId xmlns:a16="http://schemas.microsoft.com/office/drawing/2014/main" id="{E25F4819-4E47-31D0-612F-6E46EF2C3F17}"/>
              </a:ext>
            </a:extLst>
          </p:cNvPr>
          <p:cNvPicPr>
            <a:picLocks noChangeAspect="1"/>
          </p:cNvPicPr>
          <p:nvPr/>
        </p:nvPicPr>
        <p:blipFill>
          <a:blip r:embed="rId7"/>
          <a:stretch>
            <a:fillRect/>
          </a:stretch>
        </p:blipFill>
        <p:spPr>
          <a:xfrm>
            <a:off x="72451" y="1234222"/>
            <a:ext cx="4794043" cy="1099360"/>
          </a:xfrm>
          <a:prstGeom prst="rect">
            <a:avLst/>
          </a:prstGeom>
        </p:spPr>
      </p:pic>
    </p:spTree>
    <p:extLst>
      <p:ext uri="{BB962C8B-B14F-4D97-AF65-F5344CB8AC3E}">
        <p14:creationId xmlns:p14="http://schemas.microsoft.com/office/powerpoint/2010/main" val="40219345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5B0A8-BCE1-AF65-5AFA-79184BEDA904}"/>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EDCA2EEE-70B8-D049-D7BD-B54DCCF3207D}"/>
              </a:ext>
            </a:extLst>
          </p:cNvPr>
          <p:cNvSpPr txBox="1">
            <a:spLocks noGrp="1"/>
          </p:cNvSpPr>
          <p:nvPr>
            <p:ph type="title"/>
          </p:nvPr>
        </p:nvSpPr>
        <p:spPr>
          <a:xfrm>
            <a:off x="685800" y="408883"/>
            <a:ext cx="10994410" cy="951543"/>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#2a – Notebook section 2. Layout Fundamentals</a:t>
            </a:r>
            <a:br>
              <a:rPr lang="en-US" sz="2500" dirty="0"/>
            </a:br>
            <a:r>
              <a:rPr lang="en-US" sz="1800" b="0" i="1" dirty="0"/>
              <a:t>“Once that we have a working 'new' component, we shall convert it into a Cell. This will allow us to have a hierarchical design”</a:t>
            </a:r>
            <a:endParaRPr sz="2500" b="0" i="1" dirty="0">
              <a:latin typeface="+mj-lt"/>
              <a:cs typeface="Lucida Sans"/>
            </a:endParaRPr>
          </a:p>
        </p:txBody>
      </p:sp>
      <p:pic>
        <p:nvPicPr>
          <p:cNvPr id="83" name="Gráfico 82">
            <a:extLst>
              <a:ext uri="{FF2B5EF4-FFF2-40B4-BE49-F238E27FC236}">
                <a16:creationId xmlns:a16="http://schemas.microsoft.com/office/drawing/2014/main" id="{DDB8C9DA-7093-6464-A7C1-20B2A585A1E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0102C027-A211-C670-7EF5-D7A4650EEA98}"/>
              </a:ext>
            </a:extLst>
          </p:cNvPr>
          <p:cNvSpPr>
            <a:spLocks noGrp="1"/>
          </p:cNvSpPr>
          <p:nvPr>
            <p:ph type="sldNum" sz="quarter" idx="7"/>
          </p:nvPr>
        </p:nvSpPr>
        <p:spPr/>
        <p:txBody>
          <a:bodyPr/>
          <a:lstStyle/>
          <a:p>
            <a:fld id="{B6F15528-21DE-4FAA-801E-634DDDAF4B2B}" type="slidenum">
              <a:rPr lang="es-ES" smtClean="0"/>
              <a:t>8</a:t>
            </a:fld>
            <a:endParaRPr lang="es-ES"/>
          </a:p>
        </p:txBody>
      </p:sp>
      <p:sp>
        <p:nvSpPr>
          <p:cNvPr id="3" name="Marcador de pie de página 2">
            <a:extLst>
              <a:ext uri="{FF2B5EF4-FFF2-40B4-BE49-F238E27FC236}">
                <a16:creationId xmlns:a16="http://schemas.microsoft.com/office/drawing/2014/main" id="{3BB5A66E-75F8-8688-0D68-26E0DDB3AC86}"/>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5" name="Immagine 4">
            <a:extLst>
              <a:ext uri="{FF2B5EF4-FFF2-40B4-BE49-F238E27FC236}">
                <a16:creationId xmlns:a16="http://schemas.microsoft.com/office/drawing/2014/main" id="{3412C0F3-2A88-BE94-7F25-734D79F00F63}"/>
              </a:ext>
            </a:extLst>
          </p:cNvPr>
          <p:cNvPicPr>
            <a:picLocks noChangeAspect="1"/>
          </p:cNvPicPr>
          <p:nvPr/>
        </p:nvPicPr>
        <p:blipFill>
          <a:blip r:embed="rId5"/>
          <a:stretch>
            <a:fillRect/>
          </a:stretch>
        </p:blipFill>
        <p:spPr>
          <a:xfrm>
            <a:off x="599448" y="1636412"/>
            <a:ext cx="5695650" cy="3005397"/>
          </a:xfrm>
          <a:prstGeom prst="rect">
            <a:avLst/>
          </a:prstGeom>
        </p:spPr>
      </p:pic>
      <p:pic>
        <p:nvPicPr>
          <p:cNvPr id="11" name="Immagine 10">
            <a:extLst>
              <a:ext uri="{FF2B5EF4-FFF2-40B4-BE49-F238E27FC236}">
                <a16:creationId xmlns:a16="http://schemas.microsoft.com/office/drawing/2014/main" id="{F207D09D-DF61-0865-2218-326E6355F80E}"/>
              </a:ext>
            </a:extLst>
          </p:cNvPr>
          <p:cNvPicPr>
            <a:picLocks noChangeAspect="1"/>
          </p:cNvPicPr>
          <p:nvPr/>
        </p:nvPicPr>
        <p:blipFill>
          <a:blip r:embed="rId6"/>
          <a:stretch>
            <a:fillRect/>
          </a:stretch>
        </p:blipFill>
        <p:spPr>
          <a:xfrm>
            <a:off x="6448059" y="1360426"/>
            <a:ext cx="5198423" cy="3924300"/>
          </a:xfrm>
          <a:prstGeom prst="rect">
            <a:avLst/>
          </a:prstGeom>
        </p:spPr>
      </p:pic>
      <p:sp>
        <p:nvSpPr>
          <p:cNvPr id="13" name="CasellaDiTesto 12">
            <a:extLst>
              <a:ext uri="{FF2B5EF4-FFF2-40B4-BE49-F238E27FC236}">
                <a16:creationId xmlns:a16="http://schemas.microsoft.com/office/drawing/2014/main" id="{F012EAA8-3035-5A45-4EB9-DDC38654F4A7}"/>
              </a:ext>
            </a:extLst>
          </p:cNvPr>
          <p:cNvSpPr txBox="1"/>
          <p:nvPr/>
        </p:nvSpPr>
        <p:spPr>
          <a:xfrm>
            <a:off x="599448" y="4641809"/>
            <a:ext cx="5496552" cy="1754326"/>
          </a:xfrm>
          <a:prstGeom prst="rect">
            <a:avLst/>
          </a:prstGeom>
          <a:noFill/>
        </p:spPr>
        <p:txBody>
          <a:bodyPr wrap="square" rtlCol="0">
            <a:spAutoFit/>
          </a:bodyPr>
          <a:lstStyle/>
          <a:p>
            <a:r>
              <a:rPr lang="en-US" dirty="0"/>
              <a:t>This is the die cell built in Lab4 Section 2. It is a parametric chip boundary with a dicing border of 250 µm, defined as a reusable cell that can be instantiated multiple times with different dimensions. Three instances are shown here on a wafer, each with a different width</a:t>
            </a:r>
            <a:endParaRPr lang="it-IT" dirty="0"/>
          </a:p>
        </p:txBody>
      </p:sp>
    </p:spTree>
    <p:extLst>
      <p:ext uri="{BB962C8B-B14F-4D97-AF65-F5344CB8AC3E}">
        <p14:creationId xmlns:p14="http://schemas.microsoft.com/office/powerpoint/2010/main" val="12032410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281E-4B83-CADF-E05C-2779A19E8BED}"/>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3C614703-AB72-E989-42B5-849A55E9B3E2}"/>
              </a:ext>
            </a:extLst>
          </p:cNvPr>
          <p:cNvSpPr txBox="1">
            <a:spLocks noGrp="1"/>
          </p:cNvSpPr>
          <p:nvPr>
            <p:ph type="title"/>
          </p:nvPr>
        </p:nvSpPr>
        <p:spPr>
          <a:xfrm>
            <a:off x="685800" y="408883"/>
            <a:ext cx="10994410" cy="2598147"/>
          </a:xfrm>
          <a:prstGeom prst="rect">
            <a:avLst/>
          </a:prstGeom>
        </p:spPr>
        <p:txBody>
          <a:bodyPr vert="horz" wrap="square" lIns="0" tIns="12700" rIns="0" bIns="0" rtlCol="0">
            <a:spAutoFit/>
          </a:bodyPr>
          <a:lstStyle/>
          <a:p>
            <a:pPr marL="12700" algn="just">
              <a:lnSpc>
                <a:spcPct val="100000"/>
              </a:lnSpc>
              <a:spcBef>
                <a:spcPts val="100"/>
              </a:spcBef>
            </a:pPr>
            <a:r>
              <a:rPr lang="en-US" sz="3600" dirty="0"/>
              <a:t>Learning outcome #2a – Notebook section 2. Layout Fundamentals – </a:t>
            </a:r>
            <a:r>
              <a:rPr lang="en-US" sz="3600" dirty="0">
                <a:solidFill>
                  <a:srgbClr val="FF0000"/>
                </a:solidFill>
              </a:rPr>
              <a:t>1 slide per component</a:t>
            </a:r>
            <a:br>
              <a:rPr lang="en-US" sz="4000" dirty="0"/>
            </a:br>
            <a:r>
              <a:rPr lang="en-US" sz="3200" b="0" i="1" dirty="0"/>
              <a:t>“Use your design results from Lab2 and Lab3 to create layout instances of your designed components: DCs, MMIs, MZIs &amp; Ring Resonators” </a:t>
            </a:r>
            <a:r>
              <a:rPr lang="en-US" sz="3200" b="0" i="1" dirty="0">
                <a:solidFill>
                  <a:srgbClr val="FF0000"/>
                </a:solidFill>
                <a:sym typeface="Wingdings" pitchFamily="2" charset="2"/>
              </a:rPr>
              <a:t> Make cells for all your components</a:t>
            </a:r>
            <a:endParaRPr sz="4000" b="0" i="1" dirty="0">
              <a:solidFill>
                <a:srgbClr val="FF0000"/>
              </a:solidFill>
              <a:latin typeface="+mj-lt"/>
              <a:cs typeface="Lucida Sans"/>
            </a:endParaRPr>
          </a:p>
        </p:txBody>
      </p:sp>
      <p:pic>
        <p:nvPicPr>
          <p:cNvPr id="83" name="Gráfico 82">
            <a:extLst>
              <a:ext uri="{FF2B5EF4-FFF2-40B4-BE49-F238E27FC236}">
                <a16:creationId xmlns:a16="http://schemas.microsoft.com/office/drawing/2014/main" id="{B2356666-601E-2F0B-B414-AFB7213C2F5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F6398BF1-A4DD-D652-E241-5E9DB50DD57A}"/>
              </a:ext>
            </a:extLst>
          </p:cNvPr>
          <p:cNvSpPr>
            <a:spLocks noGrp="1"/>
          </p:cNvSpPr>
          <p:nvPr>
            <p:ph type="sldNum" sz="quarter" idx="7"/>
          </p:nvPr>
        </p:nvSpPr>
        <p:spPr/>
        <p:txBody>
          <a:bodyPr/>
          <a:lstStyle/>
          <a:p>
            <a:fld id="{B6F15528-21DE-4FAA-801E-634DDDAF4B2B}" type="slidenum">
              <a:rPr lang="es-ES" smtClean="0"/>
              <a:t>9</a:t>
            </a:fld>
            <a:endParaRPr lang="es-ES"/>
          </a:p>
        </p:txBody>
      </p:sp>
      <p:sp>
        <p:nvSpPr>
          <p:cNvPr id="3" name="Marcador de pie de página 2">
            <a:extLst>
              <a:ext uri="{FF2B5EF4-FFF2-40B4-BE49-F238E27FC236}">
                <a16:creationId xmlns:a16="http://schemas.microsoft.com/office/drawing/2014/main" id="{CEC070D5-9297-7D8B-73E0-DC21D7D5CE0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Tree>
    <p:extLst>
      <p:ext uri="{BB962C8B-B14F-4D97-AF65-F5344CB8AC3E}">
        <p14:creationId xmlns:p14="http://schemas.microsoft.com/office/powerpoint/2010/main" val="15040021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egnaposto piè di pagina 3">
            <a:extLst>
              <a:ext uri="{FF2B5EF4-FFF2-40B4-BE49-F238E27FC236}">
                <a16:creationId xmlns:a16="http://schemas.microsoft.com/office/drawing/2014/main" id="{33E8FE72-361C-95B1-DC73-1AC9CE221739}"/>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5" name="Segnaposto numero diapositiva 4">
            <a:extLst>
              <a:ext uri="{FF2B5EF4-FFF2-40B4-BE49-F238E27FC236}">
                <a16:creationId xmlns:a16="http://schemas.microsoft.com/office/drawing/2014/main" id="{B44B2684-666C-A83C-E2FB-0DD720FC481D}"/>
              </a:ext>
            </a:extLst>
          </p:cNvPr>
          <p:cNvSpPr>
            <a:spLocks noGrp="1"/>
          </p:cNvSpPr>
          <p:nvPr>
            <p:ph type="sldNum" sz="quarter" idx="7"/>
          </p:nvPr>
        </p:nvSpPr>
        <p:spPr/>
        <p:txBody>
          <a:bodyPr/>
          <a:lstStyle/>
          <a:p>
            <a:fld id="{B6F15528-21DE-4FAA-801E-634DDDAF4B2B}" type="slidenum">
              <a:rPr lang="it-IT" smtClean="0"/>
              <a:t>10</a:t>
            </a:fld>
            <a:endParaRPr lang="it-IT"/>
          </a:p>
        </p:txBody>
      </p:sp>
      <p:pic>
        <p:nvPicPr>
          <p:cNvPr id="7" name="Immagine 6">
            <a:extLst>
              <a:ext uri="{FF2B5EF4-FFF2-40B4-BE49-F238E27FC236}">
                <a16:creationId xmlns:a16="http://schemas.microsoft.com/office/drawing/2014/main" id="{DBF7C54F-ED5F-5EC8-5A71-969AC7D441A4}"/>
              </a:ext>
            </a:extLst>
          </p:cNvPr>
          <p:cNvPicPr>
            <a:picLocks noChangeAspect="1"/>
          </p:cNvPicPr>
          <p:nvPr/>
        </p:nvPicPr>
        <p:blipFill>
          <a:blip r:embed="rId2"/>
          <a:stretch>
            <a:fillRect/>
          </a:stretch>
        </p:blipFill>
        <p:spPr>
          <a:xfrm>
            <a:off x="0" y="1752601"/>
            <a:ext cx="6096000" cy="2860776"/>
          </a:xfrm>
          <a:prstGeom prst="rect">
            <a:avLst/>
          </a:prstGeom>
        </p:spPr>
      </p:pic>
      <p:pic>
        <p:nvPicPr>
          <p:cNvPr id="9" name="Immagine 8">
            <a:extLst>
              <a:ext uri="{FF2B5EF4-FFF2-40B4-BE49-F238E27FC236}">
                <a16:creationId xmlns:a16="http://schemas.microsoft.com/office/drawing/2014/main" id="{FC7C9C7C-30EA-9996-EC63-3849FF24DA1A}"/>
              </a:ext>
            </a:extLst>
          </p:cNvPr>
          <p:cNvPicPr>
            <a:picLocks noChangeAspect="1"/>
          </p:cNvPicPr>
          <p:nvPr/>
        </p:nvPicPr>
        <p:blipFill>
          <a:blip r:embed="rId3"/>
          <a:stretch>
            <a:fillRect/>
          </a:stretch>
        </p:blipFill>
        <p:spPr>
          <a:xfrm>
            <a:off x="6207492" y="1169670"/>
            <a:ext cx="5985757" cy="4518660"/>
          </a:xfrm>
          <a:prstGeom prst="rect">
            <a:avLst/>
          </a:prstGeom>
        </p:spPr>
      </p:pic>
    </p:spTree>
    <p:extLst>
      <p:ext uri="{BB962C8B-B14F-4D97-AF65-F5344CB8AC3E}">
        <p14:creationId xmlns:p14="http://schemas.microsoft.com/office/powerpoint/2010/main" val="920263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56CE3-0BB1-6DF7-DC93-839E50AEC8F3}"/>
            </a:ext>
          </a:extLst>
        </p:cNvPr>
        <p:cNvGrpSpPr/>
        <p:nvPr/>
      </p:nvGrpSpPr>
      <p:grpSpPr>
        <a:xfrm>
          <a:off x="0" y="0"/>
          <a:ext cx="0" cy="0"/>
          <a:chOff x="0" y="0"/>
          <a:chExt cx="0" cy="0"/>
        </a:xfrm>
      </p:grpSpPr>
      <p:sp>
        <p:nvSpPr>
          <p:cNvPr id="4" name="Segnaposto piè di pagina 3">
            <a:extLst>
              <a:ext uri="{FF2B5EF4-FFF2-40B4-BE49-F238E27FC236}">
                <a16:creationId xmlns:a16="http://schemas.microsoft.com/office/drawing/2014/main" id="{68A337DE-B54D-72D4-0836-B70B63689BD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5" name="Segnaposto numero diapositiva 4">
            <a:extLst>
              <a:ext uri="{FF2B5EF4-FFF2-40B4-BE49-F238E27FC236}">
                <a16:creationId xmlns:a16="http://schemas.microsoft.com/office/drawing/2014/main" id="{D6CA66CF-784D-B792-4C2D-07A4DFCC191C}"/>
              </a:ext>
            </a:extLst>
          </p:cNvPr>
          <p:cNvSpPr>
            <a:spLocks noGrp="1"/>
          </p:cNvSpPr>
          <p:nvPr>
            <p:ph type="sldNum" sz="quarter" idx="7"/>
          </p:nvPr>
        </p:nvSpPr>
        <p:spPr/>
        <p:txBody>
          <a:bodyPr/>
          <a:lstStyle/>
          <a:p>
            <a:fld id="{B6F15528-21DE-4FAA-801E-634DDDAF4B2B}" type="slidenum">
              <a:rPr lang="it-IT" smtClean="0"/>
              <a:t>11</a:t>
            </a:fld>
            <a:endParaRPr lang="it-IT"/>
          </a:p>
        </p:txBody>
      </p:sp>
      <p:pic>
        <p:nvPicPr>
          <p:cNvPr id="3" name="Immagine 2">
            <a:extLst>
              <a:ext uri="{FF2B5EF4-FFF2-40B4-BE49-F238E27FC236}">
                <a16:creationId xmlns:a16="http://schemas.microsoft.com/office/drawing/2014/main" id="{3ECB57BE-408F-96DB-44C3-BB2F04630222}"/>
              </a:ext>
            </a:extLst>
          </p:cNvPr>
          <p:cNvPicPr>
            <a:picLocks noChangeAspect="1"/>
          </p:cNvPicPr>
          <p:nvPr/>
        </p:nvPicPr>
        <p:blipFill>
          <a:blip r:embed="rId2"/>
          <a:stretch>
            <a:fillRect/>
          </a:stretch>
        </p:blipFill>
        <p:spPr>
          <a:xfrm>
            <a:off x="12492" y="2209800"/>
            <a:ext cx="6010646" cy="2057408"/>
          </a:xfrm>
          <a:prstGeom prst="rect">
            <a:avLst/>
          </a:prstGeom>
        </p:spPr>
      </p:pic>
      <p:pic>
        <p:nvPicPr>
          <p:cNvPr id="7" name="Immagine 6">
            <a:extLst>
              <a:ext uri="{FF2B5EF4-FFF2-40B4-BE49-F238E27FC236}">
                <a16:creationId xmlns:a16="http://schemas.microsoft.com/office/drawing/2014/main" id="{5A794649-9D33-31ED-9478-FAD9206EAD55}"/>
              </a:ext>
            </a:extLst>
          </p:cNvPr>
          <p:cNvPicPr>
            <a:picLocks noChangeAspect="1"/>
          </p:cNvPicPr>
          <p:nvPr/>
        </p:nvPicPr>
        <p:blipFill>
          <a:blip r:embed="rId3"/>
          <a:stretch>
            <a:fillRect/>
          </a:stretch>
        </p:blipFill>
        <p:spPr>
          <a:xfrm>
            <a:off x="6078511" y="1123950"/>
            <a:ext cx="6106886" cy="4610100"/>
          </a:xfrm>
          <a:prstGeom prst="rect">
            <a:avLst/>
          </a:prstGeom>
        </p:spPr>
      </p:pic>
    </p:spTree>
    <p:extLst>
      <p:ext uri="{BB962C8B-B14F-4D97-AF65-F5344CB8AC3E}">
        <p14:creationId xmlns:p14="http://schemas.microsoft.com/office/powerpoint/2010/main" val="27666727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AE04FED3-0D42-E5E0-1485-0C2D5B8DEF3D}"/>
              </a:ext>
            </a:extLst>
          </p:cNvPr>
          <p:cNvPicPr>
            <a:picLocks noChangeAspect="1"/>
          </p:cNvPicPr>
          <p:nvPr/>
        </p:nvPicPr>
        <p:blipFill>
          <a:blip r:embed="rId2"/>
          <a:stretch>
            <a:fillRect/>
          </a:stretch>
        </p:blipFill>
        <p:spPr>
          <a:xfrm>
            <a:off x="685800" y="1828800"/>
            <a:ext cx="4438886" cy="2755601"/>
          </a:xfrm>
          <a:prstGeom prst="rect">
            <a:avLst/>
          </a:prstGeom>
        </p:spPr>
      </p:pic>
      <p:pic>
        <p:nvPicPr>
          <p:cNvPr id="7" name="Immagine 6">
            <a:extLst>
              <a:ext uri="{FF2B5EF4-FFF2-40B4-BE49-F238E27FC236}">
                <a16:creationId xmlns:a16="http://schemas.microsoft.com/office/drawing/2014/main" id="{E3D16D2B-B4A0-3B62-F536-D5293BB718EA}"/>
              </a:ext>
            </a:extLst>
          </p:cNvPr>
          <p:cNvPicPr>
            <a:picLocks noChangeAspect="1"/>
          </p:cNvPicPr>
          <p:nvPr/>
        </p:nvPicPr>
        <p:blipFill>
          <a:blip r:embed="rId3"/>
          <a:stretch>
            <a:fillRect/>
          </a:stretch>
        </p:blipFill>
        <p:spPr>
          <a:xfrm>
            <a:off x="5147171" y="984250"/>
            <a:ext cx="6477000" cy="4889500"/>
          </a:xfrm>
          <a:prstGeom prst="rect">
            <a:avLst/>
          </a:prstGeom>
        </p:spPr>
      </p:pic>
    </p:spTree>
    <p:extLst>
      <p:ext uri="{BB962C8B-B14F-4D97-AF65-F5344CB8AC3E}">
        <p14:creationId xmlns:p14="http://schemas.microsoft.com/office/powerpoint/2010/main" val="41961867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magine 4">
            <a:extLst>
              <a:ext uri="{FF2B5EF4-FFF2-40B4-BE49-F238E27FC236}">
                <a16:creationId xmlns:a16="http://schemas.microsoft.com/office/drawing/2014/main" id="{8909777B-8BA5-C92B-A0AD-72A4401A9682}"/>
              </a:ext>
            </a:extLst>
          </p:cNvPr>
          <p:cNvPicPr>
            <a:picLocks noChangeAspect="1"/>
          </p:cNvPicPr>
          <p:nvPr/>
        </p:nvPicPr>
        <p:blipFill>
          <a:blip r:embed="rId2"/>
          <a:stretch>
            <a:fillRect/>
          </a:stretch>
        </p:blipFill>
        <p:spPr>
          <a:xfrm>
            <a:off x="228600" y="1981200"/>
            <a:ext cx="5987215" cy="2657590"/>
          </a:xfrm>
          <a:prstGeom prst="rect">
            <a:avLst/>
          </a:prstGeom>
        </p:spPr>
      </p:pic>
      <p:pic>
        <p:nvPicPr>
          <p:cNvPr id="7" name="Immagine 6">
            <a:extLst>
              <a:ext uri="{FF2B5EF4-FFF2-40B4-BE49-F238E27FC236}">
                <a16:creationId xmlns:a16="http://schemas.microsoft.com/office/drawing/2014/main" id="{ABEDD5BA-8F2F-F5C0-E835-E2564C42B2AF}"/>
              </a:ext>
            </a:extLst>
          </p:cNvPr>
          <p:cNvPicPr>
            <a:picLocks noChangeAspect="1"/>
          </p:cNvPicPr>
          <p:nvPr/>
        </p:nvPicPr>
        <p:blipFill>
          <a:blip r:embed="rId3"/>
          <a:stretch>
            <a:fillRect/>
          </a:stretch>
        </p:blipFill>
        <p:spPr>
          <a:xfrm>
            <a:off x="5952944" y="990600"/>
            <a:ext cx="6207826" cy="4686300"/>
          </a:xfrm>
          <a:prstGeom prst="rect">
            <a:avLst/>
          </a:prstGeom>
        </p:spPr>
      </p:pic>
    </p:spTree>
    <p:extLst>
      <p:ext uri="{BB962C8B-B14F-4D97-AF65-F5344CB8AC3E}">
        <p14:creationId xmlns:p14="http://schemas.microsoft.com/office/powerpoint/2010/main" val="35336146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463A-FEB0-DAC2-C592-982AED782F72}"/>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6D9825A0-3864-7B82-F4C0-6912BF1AE353}"/>
              </a:ext>
            </a:extLst>
          </p:cNvPr>
          <p:cNvSpPr txBox="1">
            <a:spLocks noGrp="1"/>
          </p:cNvSpPr>
          <p:nvPr>
            <p:ph type="title"/>
          </p:nvPr>
        </p:nvSpPr>
        <p:spPr>
          <a:xfrm>
            <a:off x="6096000" y="137160"/>
            <a:ext cx="10994410" cy="289823"/>
          </a:xfrm>
          <a:prstGeom prst="rect">
            <a:avLst/>
          </a:prstGeom>
        </p:spPr>
        <p:txBody>
          <a:bodyPr vert="horz" wrap="square" lIns="0" tIns="12700" rIns="0" bIns="0" rtlCol="0">
            <a:spAutoFit/>
          </a:bodyPr>
          <a:lstStyle/>
          <a:p>
            <a:pPr marL="12700" algn="l">
              <a:lnSpc>
                <a:spcPct val="100000"/>
              </a:lnSpc>
              <a:spcBef>
                <a:spcPts val="100"/>
              </a:spcBef>
            </a:pPr>
            <a:r>
              <a:rPr lang="en-US" sz="1800" dirty="0"/>
              <a:t>Learning outcome #3 – Notebook section 3. Complete layout</a:t>
            </a:r>
            <a:endParaRPr sz="1800" b="0" i="1" dirty="0">
              <a:latin typeface="+mj-lt"/>
              <a:cs typeface="Lucida Sans"/>
            </a:endParaRPr>
          </a:p>
        </p:txBody>
      </p:sp>
      <p:sp>
        <p:nvSpPr>
          <p:cNvPr id="84" name="Marcador de número de diapositiva 83">
            <a:extLst>
              <a:ext uri="{FF2B5EF4-FFF2-40B4-BE49-F238E27FC236}">
                <a16:creationId xmlns:a16="http://schemas.microsoft.com/office/drawing/2014/main" id="{00F7002D-478B-4959-3169-5E518898EBC4}"/>
              </a:ext>
            </a:extLst>
          </p:cNvPr>
          <p:cNvSpPr>
            <a:spLocks noGrp="1"/>
          </p:cNvSpPr>
          <p:nvPr>
            <p:ph type="sldNum" sz="quarter" idx="7"/>
          </p:nvPr>
        </p:nvSpPr>
        <p:spPr/>
        <p:txBody>
          <a:bodyPr/>
          <a:lstStyle/>
          <a:p>
            <a:fld id="{B6F15528-21DE-4FAA-801E-634DDDAF4B2B}" type="slidenum">
              <a:rPr lang="es-ES" smtClean="0"/>
              <a:t>14</a:t>
            </a:fld>
            <a:endParaRPr lang="es-ES"/>
          </a:p>
        </p:txBody>
      </p:sp>
      <p:sp>
        <p:nvSpPr>
          <p:cNvPr id="3" name="Marcador de pie de página 2">
            <a:extLst>
              <a:ext uri="{FF2B5EF4-FFF2-40B4-BE49-F238E27FC236}">
                <a16:creationId xmlns:a16="http://schemas.microsoft.com/office/drawing/2014/main" id="{C305F97E-3B7E-8203-F806-FFA5E41962D7}"/>
              </a:ext>
            </a:extLst>
          </p:cNvPr>
          <p:cNvSpPr>
            <a:spLocks noGrp="1"/>
          </p:cNvSpPr>
          <p:nvPr>
            <p:ph type="ftr" sz="quarter" idx="5"/>
          </p:nvPr>
        </p:nvSpPr>
        <p:spPr/>
        <p:txBody>
          <a:bodyPr/>
          <a:lstStyle/>
          <a:p>
            <a:pPr marL="12700">
              <a:spcBef>
                <a:spcPts val="15"/>
              </a:spcBef>
            </a:pPr>
            <a:r>
              <a:rPr lang="es-ES" spc="-5"/>
              <a:t>LAB 4.0. LAYOUT</a:t>
            </a:r>
            <a:endParaRPr lang="es-ES" spc="-5" dirty="0"/>
          </a:p>
        </p:txBody>
      </p:sp>
      <p:pic>
        <p:nvPicPr>
          <p:cNvPr id="4" name="Immagine 3">
            <a:extLst>
              <a:ext uri="{FF2B5EF4-FFF2-40B4-BE49-F238E27FC236}">
                <a16:creationId xmlns:a16="http://schemas.microsoft.com/office/drawing/2014/main" id="{DBAE2A42-EA63-02F0-84B1-D653B9487124}"/>
              </a:ext>
            </a:extLst>
          </p:cNvPr>
          <p:cNvPicPr>
            <a:picLocks noChangeAspect="1"/>
          </p:cNvPicPr>
          <p:nvPr/>
        </p:nvPicPr>
        <p:blipFill>
          <a:blip r:embed="rId3"/>
          <a:stretch>
            <a:fillRect/>
          </a:stretch>
        </p:blipFill>
        <p:spPr>
          <a:xfrm>
            <a:off x="152400" y="787291"/>
            <a:ext cx="6070006" cy="2798649"/>
          </a:xfrm>
          <a:prstGeom prst="rect">
            <a:avLst/>
          </a:prstGeom>
        </p:spPr>
      </p:pic>
      <p:sp>
        <p:nvSpPr>
          <p:cNvPr id="5" name="CasellaDiTesto 4">
            <a:extLst>
              <a:ext uri="{FF2B5EF4-FFF2-40B4-BE49-F238E27FC236}">
                <a16:creationId xmlns:a16="http://schemas.microsoft.com/office/drawing/2014/main" id="{AAB0985C-80E8-58DE-548F-42F1A403E46D}"/>
              </a:ext>
            </a:extLst>
          </p:cNvPr>
          <p:cNvSpPr txBox="1"/>
          <p:nvPr/>
        </p:nvSpPr>
        <p:spPr>
          <a:xfrm>
            <a:off x="6604819" y="1090579"/>
            <a:ext cx="5587181" cy="1754326"/>
          </a:xfrm>
          <a:prstGeom prst="rect">
            <a:avLst/>
          </a:prstGeom>
          <a:noFill/>
        </p:spPr>
        <p:txBody>
          <a:bodyPr wrap="square" rtlCol="0">
            <a:spAutoFit/>
          </a:bodyPr>
          <a:lstStyle/>
          <a:p>
            <a:r>
              <a:rPr lang="en-US" dirty="0"/>
              <a:t>This block creates the main die component and places a 1x2 MMI at its center. It then adds input and output waveguides at the die edges and routes them to the MMI ports using S-bend connections, producing a complete side to side optical path across the chip.</a:t>
            </a:r>
          </a:p>
          <a:p>
            <a:endParaRPr lang="it-IT" dirty="0"/>
          </a:p>
        </p:txBody>
      </p:sp>
      <p:sp>
        <p:nvSpPr>
          <p:cNvPr id="6" name="CasellaDiTesto 5">
            <a:extLst>
              <a:ext uri="{FF2B5EF4-FFF2-40B4-BE49-F238E27FC236}">
                <a16:creationId xmlns:a16="http://schemas.microsoft.com/office/drawing/2014/main" id="{FB2F1639-8E56-9896-2B3B-DB08CF3A44B1}"/>
              </a:ext>
            </a:extLst>
          </p:cNvPr>
          <p:cNvSpPr txBox="1"/>
          <p:nvPr/>
        </p:nvSpPr>
        <p:spPr>
          <a:xfrm>
            <a:off x="6537300" y="4283555"/>
            <a:ext cx="5587181" cy="1200329"/>
          </a:xfrm>
          <a:prstGeom prst="rect">
            <a:avLst/>
          </a:prstGeom>
          <a:noFill/>
        </p:spPr>
        <p:txBody>
          <a:bodyPr wrap="square" rtlCol="0">
            <a:spAutoFit/>
          </a:bodyPr>
          <a:lstStyle/>
          <a:p>
            <a:r>
              <a:rPr lang="en-US" dirty="0"/>
              <a:t>This block is a prototype cell for an MMI tree, used to test the component interactively before wrapping it into a reusable cell function.</a:t>
            </a:r>
          </a:p>
          <a:p>
            <a:endParaRPr lang="it-IT" dirty="0"/>
          </a:p>
        </p:txBody>
      </p:sp>
      <p:pic>
        <p:nvPicPr>
          <p:cNvPr id="12" name="Immagine 11">
            <a:extLst>
              <a:ext uri="{FF2B5EF4-FFF2-40B4-BE49-F238E27FC236}">
                <a16:creationId xmlns:a16="http://schemas.microsoft.com/office/drawing/2014/main" id="{8D4EFDED-0C3D-F2F2-9014-591842644579}"/>
              </a:ext>
            </a:extLst>
          </p:cNvPr>
          <p:cNvPicPr>
            <a:picLocks noChangeAspect="1"/>
          </p:cNvPicPr>
          <p:nvPr/>
        </p:nvPicPr>
        <p:blipFill>
          <a:blip r:embed="rId4"/>
          <a:stretch>
            <a:fillRect/>
          </a:stretch>
        </p:blipFill>
        <p:spPr>
          <a:xfrm>
            <a:off x="256947" y="3696731"/>
            <a:ext cx="5613346" cy="2373978"/>
          </a:xfrm>
          <a:prstGeom prst="rect">
            <a:avLst/>
          </a:prstGeom>
        </p:spPr>
      </p:pic>
    </p:spTree>
    <p:extLst>
      <p:ext uri="{BB962C8B-B14F-4D97-AF65-F5344CB8AC3E}">
        <p14:creationId xmlns:p14="http://schemas.microsoft.com/office/powerpoint/2010/main" val="31908115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78C33C2B-C1BE-CFE0-62B3-D0DB3D3D06F0}"/>
              </a:ext>
            </a:extLst>
          </p:cNvPr>
          <p:cNvPicPr>
            <a:picLocks noChangeAspect="1"/>
          </p:cNvPicPr>
          <p:nvPr/>
        </p:nvPicPr>
        <p:blipFill>
          <a:blip r:embed="rId2"/>
          <a:stretch>
            <a:fillRect/>
          </a:stretch>
        </p:blipFill>
        <p:spPr>
          <a:xfrm>
            <a:off x="152400" y="301320"/>
            <a:ext cx="6433712" cy="3100672"/>
          </a:xfrm>
          <a:prstGeom prst="rect">
            <a:avLst/>
          </a:prstGeom>
        </p:spPr>
      </p:pic>
      <p:pic>
        <p:nvPicPr>
          <p:cNvPr id="9" name="Immagine 8">
            <a:extLst>
              <a:ext uri="{FF2B5EF4-FFF2-40B4-BE49-F238E27FC236}">
                <a16:creationId xmlns:a16="http://schemas.microsoft.com/office/drawing/2014/main" id="{5FBC659E-8208-3705-5A0B-812D52B3ED2F}"/>
              </a:ext>
            </a:extLst>
          </p:cNvPr>
          <p:cNvPicPr>
            <a:picLocks noChangeAspect="1"/>
          </p:cNvPicPr>
          <p:nvPr/>
        </p:nvPicPr>
        <p:blipFill>
          <a:blip r:embed="rId3"/>
          <a:stretch>
            <a:fillRect/>
          </a:stretch>
        </p:blipFill>
        <p:spPr>
          <a:xfrm>
            <a:off x="914400" y="3511280"/>
            <a:ext cx="4696385" cy="3045400"/>
          </a:xfrm>
          <a:prstGeom prst="rect">
            <a:avLst/>
          </a:prstGeom>
        </p:spPr>
      </p:pic>
      <p:sp>
        <p:nvSpPr>
          <p:cNvPr id="12" name="CasellaDiTesto 11">
            <a:extLst>
              <a:ext uri="{FF2B5EF4-FFF2-40B4-BE49-F238E27FC236}">
                <a16:creationId xmlns:a16="http://schemas.microsoft.com/office/drawing/2014/main" id="{2CE6A2C4-60BB-3891-C956-DD50D96135D4}"/>
              </a:ext>
            </a:extLst>
          </p:cNvPr>
          <p:cNvSpPr txBox="1"/>
          <p:nvPr/>
        </p:nvSpPr>
        <p:spPr>
          <a:xfrm>
            <a:off x="7086600" y="838200"/>
            <a:ext cx="4267200" cy="5078313"/>
          </a:xfrm>
          <a:prstGeom prst="rect">
            <a:avLst/>
          </a:prstGeom>
          <a:noFill/>
        </p:spPr>
        <p:txBody>
          <a:bodyPr wrap="square" rtlCol="0">
            <a:spAutoFit/>
          </a:bodyPr>
          <a:lstStyle/>
          <a:p>
            <a:r>
              <a:rPr lang="en-US" dirty="0"/>
              <a:t>This block defines the 1x4 MMI tree as a parametric cell. It places three 1x2 MMI instances, routes the two outputs of the root MMI to the inputs of the two second level MMIs using S-bends, and exposes all five output ports plus the single input port.</a:t>
            </a:r>
          </a:p>
          <a:p>
            <a:endParaRPr lang="en-US" dirty="0"/>
          </a:p>
          <a:p>
            <a:endParaRPr lang="en-US" dirty="0"/>
          </a:p>
          <a:p>
            <a:endParaRPr lang="en-US" dirty="0"/>
          </a:p>
          <a:p>
            <a:endParaRPr lang="en-US" dirty="0"/>
          </a:p>
          <a:p>
            <a:endParaRPr lang="en-US" dirty="0"/>
          </a:p>
          <a:p>
            <a:endParaRPr lang="en-US" dirty="0"/>
          </a:p>
          <a:p>
            <a:r>
              <a:rPr lang="en-US" dirty="0"/>
              <a:t>This block instantiates the 1x4 MMI tree inside the main component, adds arrays of four input and output waveguides at the die edges, positions the tree at the center of the die, and connects all ports to the waveguide arrays using S-bend routing.</a:t>
            </a:r>
            <a:endParaRPr lang="it-IT" dirty="0"/>
          </a:p>
        </p:txBody>
      </p:sp>
    </p:spTree>
    <p:extLst>
      <p:ext uri="{BB962C8B-B14F-4D97-AF65-F5344CB8AC3E}">
        <p14:creationId xmlns:p14="http://schemas.microsoft.com/office/powerpoint/2010/main" val="6109355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378B4459-00EA-F37D-C900-AC0031E5C4E4}"/>
              </a:ext>
            </a:extLst>
          </p:cNvPr>
          <p:cNvPicPr>
            <a:picLocks noChangeAspect="1"/>
          </p:cNvPicPr>
          <p:nvPr/>
        </p:nvPicPr>
        <p:blipFill>
          <a:blip r:embed="rId2"/>
          <a:stretch>
            <a:fillRect/>
          </a:stretch>
        </p:blipFill>
        <p:spPr>
          <a:xfrm>
            <a:off x="2209800" y="495300"/>
            <a:ext cx="7772400" cy="5867400"/>
          </a:xfrm>
          <a:prstGeom prst="rect">
            <a:avLst/>
          </a:prstGeom>
        </p:spPr>
      </p:pic>
    </p:spTree>
    <p:extLst>
      <p:ext uri="{BB962C8B-B14F-4D97-AF65-F5344CB8AC3E}">
        <p14:creationId xmlns:p14="http://schemas.microsoft.com/office/powerpoint/2010/main" val="21682225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87F0-CB2C-2FE5-5614-A0F16A628E7A}"/>
            </a:ext>
          </a:extLst>
        </p:cNvPr>
        <p:cNvGrpSpPr/>
        <p:nvPr/>
      </p:nvGrpSpPr>
      <p:grpSpPr>
        <a:xfrm>
          <a:off x="0" y="0"/>
          <a:ext cx="0" cy="0"/>
          <a:chOff x="0" y="0"/>
          <a:chExt cx="0" cy="0"/>
        </a:xfrm>
      </p:grpSpPr>
      <p:sp>
        <p:nvSpPr>
          <p:cNvPr id="16" name="object 16">
            <a:extLst>
              <a:ext uri="{FF2B5EF4-FFF2-40B4-BE49-F238E27FC236}">
                <a16:creationId xmlns:a16="http://schemas.microsoft.com/office/drawing/2014/main" id="{102B708D-0704-5977-EC6F-88CF05CBBE8F}"/>
              </a:ext>
            </a:extLst>
          </p:cNvPr>
          <p:cNvSpPr txBox="1">
            <a:spLocks noGrp="1"/>
          </p:cNvSpPr>
          <p:nvPr>
            <p:ph type="title"/>
          </p:nvPr>
        </p:nvSpPr>
        <p:spPr>
          <a:xfrm>
            <a:off x="685800" y="408883"/>
            <a:ext cx="10994410" cy="397545"/>
          </a:xfrm>
          <a:prstGeom prst="rect">
            <a:avLst/>
          </a:prstGeom>
        </p:spPr>
        <p:txBody>
          <a:bodyPr vert="horz" wrap="square" lIns="0" tIns="12700" rIns="0" bIns="0" rtlCol="0">
            <a:spAutoFit/>
          </a:bodyPr>
          <a:lstStyle/>
          <a:p>
            <a:pPr marL="12700" algn="l">
              <a:lnSpc>
                <a:spcPct val="100000"/>
              </a:lnSpc>
              <a:spcBef>
                <a:spcPts val="100"/>
              </a:spcBef>
            </a:pPr>
            <a:r>
              <a:rPr lang="en-US" sz="2500" dirty="0"/>
              <a:t>Learning outcome #4 – Notebook section 4. Exercises – 1 slide per bullet point</a:t>
            </a:r>
            <a:endParaRPr sz="2500" b="0" i="1" dirty="0">
              <a:latin typeface="+mj-lt"/>
              <a:cs typeface="Lucida Sans"/>
            </a:endParaRPr>
          </a:p>
        </p:txBody>
      </p:sp>
      <p:pic>
        <p:nvPicPr>
          <p:cNvPr id="83" name="Gráfico 82">
            <a:extLst>
              <a:ext uri="{FF2B5EF4-FFF2-40B4-BE49-F238E27FC236}">
                <a16:creationId xmlns:a16="http://schemas.microsoft.com/office/drawing/2014/main" id="{25386122-0096-23D3-AB3A-550FBF0A314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045006" y="6356057"/>
            <a:ext cx="6409575" cy="363174"/>
          </a:xfrm>
          <a:prstGeom prst="rect">
            <a:avLst/>
          </a:prstGeom>
        </p:spPr>
      </p:pic>
      <p:sp>
        <p:nvSpPr>
          <p:cNvPr id="84" name="Marcador de número de diapositiva 83">
            <a:extLst>
              <a:ext uri="{FF2B5EF4-FFF2-40B4-BE49-F238E27FC236}">
                <a16:creationId xmlns:a16="http://schemas.microsoft.com/office/drawing/2014/main" id="{713FD8D6-DEAF-544C-DE8A-FEED1CFD257F}"/>
              </a:ext>
            </a:extLst>
          </p:cNvPr>
          <p:cNvSpPr>
            <a:spLocks noGrp="1"/>
          </p:cNvSpPr>
          <p:nvPr>
            <p:ph type="sldNum" sz="quarter" idx="7"/>
          </p:nvPr>
        </p:nvSpPr>
        <p:spPr/>
        <p:txBody>
          <a:bodyPr/>
          <a:lstStyle/>
          <a:p>
            <a:fld id="{B6F15528-21DE-4FAA-801E-634DDDAF4B2B}" type="slidenum">
              <a:rPr lang="es-ES" smtClean="0"/>
              <a:t>17</a:t>
            </a:fld>
            <a:endParaRPr lang="es-ES"/>
          </a:p>
        </p:txBody>
      </p:sp>
      <p:sp>
        <p:nvSpPr>
          <p:cNvPr id="3" name="Marcador de pie de página 2">
            <a:extLst>
              <a:ext uri="{FF2B5EF4-FFF2-40B4-BE49-F238E27FC236}">
                <a16:creationId xmlns:a16="http://schemas.microsoft.com/office/drawing/2014/main" id="{30B40145-CD7B-EB6E-E37D-B6E973BB915B}"/>
              </a:ext>
            </a:extLst>
          </p:cNvPr>
          <p:cNvSpPr>
            <a:spLocks noGrp="1"/>
          </p:cNvSpPr>
          <p:nvPr>
            <p:ph type="ftr" sz="quarter" idx="5"/>
          </p:nvPr>
        </p:nvSpPr>
        <p:spPr/>
        <p:txBody>
          <a:bodyPr/>
          <a:lstStyle/>
          <a:p>
            <a:pPr marL="12700">
              <a:spcBef>
                <a:spcPts val="15"/>
              </a:spcBef>
            </a:pPr>
            <a:r>
              <a:rPr lang="es-ES" spc="-5"/>
              <a:t>LAB 4.0. LAYOUT</a:t>
            </a:r>
            <a:endParaRPr lang="es-ES" spc="-5" dirty="0"/>
          </a:p>
        </p:txBody>
      </p:sp>
      <p:sp>
        <p:nvSpPr>
          <p:cNvPr id="2" name="CuadroTexto 1">
            <a:extLst>
              <a:ext uri="{FF2B5EF4-FFF2-40B4-BE49-F238E27FC236}">
                <a16:creationId xmlns:a16="http://schemas.microsoft.com/office/drawing/2014/main" id="{3C6D55FC-5031-5DAE-893E-BF1355747932}"/>
              </a:ext>
            </a:extLst>
          </p:cNvPr>
          <p:cNvSpPr txBox="1"/>
          <p:nvPr/>
        </p:nvSpPr>
        <p:spPr>
          <a:xfrm>
            <a:off x="685799" y="990600"/>
            <a:ext cx="10768781" cy="5181600"/>
          </a:xfrm>
          <a:prstGeom prst="rect">
            <a:avLst/>
          </a:prstGeom>
          <a:noFill/>
          <a:ln w="28575">
            <a:noFill/>
          </a:ln>
        </p:spPr>
        <p:txBody>
          <a:bodyPr wrap="square" rtlCol="0">
            <a:noAutofit/>
          </a:bodyPr>
          <a:lstStyle/>
          <a:p>
            <a:pPr algn="just"/>
            <a:r>
              <a:rPr lang="en-US" sz="1600" b="1" dirty="0">
                <a:latin typeface="Arial" panose="020B0604020202020204" pitchFamily="34" charset="0"/>
                <a:cs typeface="Arial" panose="020B0604020202020204" pitchFamily="34" charset="0"/>
              </a:rPr>
              <a:t>Code for …</a:t>
            </a:r>
          </a:p>
          <a:p>
            <a:pPr algn="just"/>
            <a:endParaRPr lang="en-US" sz="1600" b="1" dirty="0">
              <a:latin typeface="Arial" panose="020B0604020202020204" pitchFamily="34" charset="0"/>
              <a:cs typeface="Arial" panose="020B0604020202020204" pitchFamily="34" charset="0"/>
            </a:endParaRPr>
          </a:p>
          <a:p>
            <a:pPr algn="just"/>
            <a:r>
              <a:rPr lang="en-US" sz="1600" b="1" dirty="0">
                <a:latin typeface="Arial" panose="020B0604020202020204" pitchFamily="34" charset="0"/>
                <a:cs typeface="Arial" panose="020B0604020202020204" pitchFamily="34" charset="0"/>
              </a:rPr>
              <a:t>Part a) Creating components</a:t>
            </a:r>
          </a:p>
          <a:p>
            <a:pPr algn="just"/>
            <a:r>
              <a:rPr lang="en-US" sz="1600" dirty="0">
                <a:latin typeface="Arial" panose="020B0604020202020204" pitchFamily="34" charset="0"/>
                <a:cs typeface="Arial" panose="020B0604020202020204" pitchFamily="34" charset="0"/>
              </a:rPr>
              <a:t>- Create a cell component for a unbalanced MZI, using 2x2 50:50 MMIs with arm length difference as parameter</a:t>
            </a:r>
          </a:p>
          <a:p>
            <a:pPr algn="just"/>
            <a:r>
              <a:rPr lang="en-US" sz="1600" dirty="0">
                <a:latin typeface="Arial" panose="020B0604020202020204" pitchFamily="34" charset="0"/>
                <a:cs typeface="Arial" panose="020B0604020202020204" pitchFamily="34" charset="0"/>
              </a:rPr>
              <a:t>- Create a cell component based on the previous, where the arms have thermal tuners on top of each one</a:t>
            </a:r>
          </a:p>
          <a:p>
            <a:pPr algn="just"/>
            <a:r>
              <a:rPr lang="en-US" sz="1600" dirty="0">
                <a:latin typeface="Arial" panose="020B0604020202020204" pitchFamily="34" charset="0"/>
                <a:cs typeface="Arial" panose="020B0604020202020204" pitchFamily="34" charset="0"/>
              </a:rPr>
              <a:t>- Create a cell component for an all-pass ring resonator, using 2x2 50:50 MMIs, with extra length parameter for different perimeters</a:t>
            </a:r>
          </a:p>
          <a:p>
            <a:pPr algn="just"/>
            <a:r>
              <a:rPr lang="en-US" sz="1600" dirty="0">
                <a:latin typeface="Arial" panose="020B0604020202020204" pitchFamily="34" charset="0"/>
                <a:cs typeface="Arial" panose="020B0604020202020204" pitchFamily="34" charset="0"/>
              </a:rPr>
              <a:t>- Create a cell component based on the previous, where the ring has a thermal tuner on top along all the perimeter</a:t>
            </a:r>
          </a:p>
          <a:p>
            <a:pPr algn="just"/>
            <a:r>
              <a:rPr lang="en-US" sz="1600" dirty="0">
                <a:latin typeface="Arial" panose="020B0604020202020204" pitchFamily="34" charset="0"/>
                <a:cs typeface="Arial" panose="020B0604020202020204" pitchFamily="34" charset="0"/>
              </a:rPr>
              <a:t>- Create a cell component based on existing </a:t>
            </a:r>
            <a:r>
              <a:rPr lang="en-US" sz="1600" dirty="0" err="1">
                <a:latin typeface="Arial" panose="020B0604020202020204" pitchFamily="34" charset="0"/>
                <a:cs typeface="Arial" panose="020B0604020202020204" pitchFamily="34" charset="0"/>
              </a:rPr>
              <a:t>GDSfactory</a:t>
            </a:r>
            <a:r>
              <a:rPr lang="en-US" sz="1600" dirty="0">
                <a:latin typeface="Arial" panose="020B0604020202020204" pitchFamily="34" charset="0"/>
                <a:cs typeface="Arial" panose="020B0604020202020204" pitchFamily="34" charset="0"/>
              </a:rPr>
              <a:t> spiral components, with length as parameter</a:t>
            </a:r>
          </a:p>
          <a:p>
            <a:pPr algn="just"/>
            <a:endParaRPr lang="en-US" sz="1600" dirty="0">
              <a:latin typeface="Arial" panose="020B0604020202020204" pitchFamily="34" charset="0"/>
              <a:cs typeface="Arial" panose="020B0604020202020204" pitchFamily="34" charset="0"/>
            </a:endParaRPr>
          </a:p>
          <a:p>
            <a:pPr algn="just"/>
            <a:r>
              <a:rPr lang="en-US" sz="1600" b="1" dirty="0">
                <a:latin typeface="Arial" panose="020B0604020202020204" pitchFamily="34" charset="0"/>
                <a:cs typeface="Arial" panose="020B0604020202020204" pitchFamily="34" charset="0"/>
              </a:rPr>
              <a:t>Part b) Creating die</a:t>
            </a:r>
          </a:p>
          <a:p>
            <a:pPr algn="just"/>
            <a:r>
              <a:rPr lang="en-US" sz="1600" dirty="0">
                <a:latin typeface="Arial" panose="020B0604020202020204" pitchFamily="34" charset="0"/>
                <a:cs typeface="Arial" panose="020B0604020202020204" pitchFamily="34" charset="0"/>
              </a:rPr>
              <a:t>- Create a die  W = 5 mm x L = 10 mm </a:t>
            </a:r>
          </a:p>
          <a:p>
            <a:pPr algn="just"/>
            <a:r>
              <a:rPr lang="en-US" sz="1600" dirty="0">
                <a:latin typeface="Arial" panose="020B0604020202020204" pitchFamily="34" charset="0"/>
                <a:cs typeface="Arial" panose="020B0604020202020204" pitchFamily="34" charset="0"/>
              </a:rPr>
              <a:t>- Create an array of I/</a:t>
            </a:r>
            <a:r>
              <a:rPr lang="en-US" sz="1600" dirty="0" err="1">
                <a:latin typeface="Arial" panose="020B0604020202020204" pitchFamily="34" charset="0"/>
                <a:cs typeface="Arial" panose="020B0604020202020204" pitchFamily="34" charset="0"/>
              </a:rPr>
              <a:t>Os</a:t>
            </a:r>
            <a:r>
              <a:rPr lang="en-US" sz="1600" dirty="0">
                <a:latin typeface="Arial" panose="020B0604020202020204" pitchFamily="34" charset="0"/>
                <a:cs typeface="Arial" panose="020B0604020202020204" pitchFamily="34" charset="0"/>
              </a:rPr>
              <a:t> spaced at 250 µm (as much I/</a:t>
            </a:r>
            <a:r>
              <a:rPr lang="en-US" sz="1600" dirty="0" err="1">
                <a:latin typeface="Arial" panose="020B0604020202020204" pitchFamily="34" charset="0"/>
                <a:cs typeface="Arial" panose="020B0604020202020204" pitchFamily="34" charset="0"/>
              </a:rPr>
              <a:t>Os</a:t>
            </a:r>
            <a:r>
              <a:rPr lang="en-US" sz="1600" dirty="0">
                <a:latin typeface="Arial" panose="020B0604020202020204" pitchFamily="34" charset="0"/>
                <a:cs typeface="Arial" panose="020B0604020202020204" pitchFamily="34" charset="0"/>
              </a:rPr>
              <a:t> as the width allows)</a:t>
            </a:r>
          </a:p>
          <a:p>
            <a:pPr algn="just"/>
            <a:r>
              <a:rPr lang="en-US" sz="1600" dirty="0">
                <a:latin typeface="Arial" panose="020B0604020202020204" pitchFamily="34" charset="0"/>
                <a:cs typeface="Arial" panose="020B0604020202020204" pitchFamily="34" charset="0"/>
              </a:rPr>
              <a:t>- Create a cell component of this die, with I/</a:t>
            </a:r>
            <a:r>
              <a:rPr lang="en-US" sz="1600" dirty="0" err="1">
                <a:latin typeface="Arial" panose="020B0604020202020204" pitchFamily="34" charset="0"/>
                <a:cs typeface="Arial" panose="020B0604020202020204" pitchFamily="34" charset="0"/>
              </a:rPr>
              <a:t>Os</a:t>
            </a:r>
            <a:r>
              <a:rPr lang="en-US" sz="1600" dirty="0">
                <a:latin typeface="Arial" panose="020B0604020202020204" pitchFamily="34" charset="0"/>
                <a:cs typeface="Arial" panose="020B0604020202020204" pitchFamily="34" charset="0"/>
              </a:rPr>
              <a:t> accessible to connect</a:t>
            </a:r>
          </a:p>
          <a:p>
            <a:pPr algn="just"/>
            <a:endParaRPr lang="en-US" sz="1600" dirty="0">
              <a:latin typeface="Arial" panose="020B0604020202020204" pitchFamily="34" charset="0"/>
              <a:cs typeface="Arial" panose="020B0604020202020204" pitchFamily="34" charset="0"/>
            </a:endParaRPr>
          </a:p>
          <a:p>
            <a:pPr algn="just"/>
            <a:r>
              <a:rPr lang="en-US" sz="1600" b="1" dirty="0">
                <a:latin typeface="Arial" panose="020B0604020202020204" pitchFamily="34" charset="0"/>
                <a:cs typeface="Arial" panose="020B0604020202020204" pitchFamily="34" charset="0"/>
              </a:rPr>
              <a:t>Part c) </a:t>
            </a:r>
            <a:r>
              <a:rPr lang="en-US" sz="1600" b="1" dirty="0" err="1">
                <a:latin typeface="Arial" panose="020B0604020202020204" pitchFamily="34" charset="0"/>
                <a:cs typeface="Arial" panose="020B0604020202020204" pitchFamily="34" charset="0"/>
              </a:rPr>
              <a:t>Floorplaning</a:t>
            </a:r>
            <a:r>
              <a:rPr lang="en-US" sz="1600" b="1" dirty="0">
                <a:latin typeface="Arial" panose="020B0604020202020204" pitchFamily="34" charset="0"/>
                <a:cs typeface="Arial" panose="020B0604020202020204" pitchFamily="34" charset="0"/>
              </a:rPr>
              <a:t> and die layout</a:t>
            </a:r>
          </a:p>
          <a:p>
            <a:pPr algn="just"/>
            <a:r>
              <a:rPr lang="en-US" sz="1600" dirty="0">
                <a:latin typeface="Arial" panose="020B0604020202020204" pitchFamily="34" charset="0"/>
                <a:cs typeface="Arial" panose="020B0604020202020204" pitchFamily="34" charset="0"/>
              </a:rPr>
              <a:t>- Make an instance of the die as host component for your layout</a:t>
            </a:r>
          </a:p>
          <a:p>
            <a:pPr algn="just"/>
            <a:r>
              <a:rPr lang="en-US" sz="1600" dirty="0">
                <a:latin typeface="Arial" panose="020B0604020202020204" pitchFamily="34" charset="0"/>
                <a:cs typeface="Arial" panose="020B0604020202020204" pitchFamily="34" charset="0"/>
              </a:rPr>
              <a:t>- Add 3 sets of 3 straight waveguides, from left to right of the die, top, middle and bottom of the die</a:t>
            </a:r>
          </a:p>
          <a:p>
            <a:pPr algn="just"/>
            <a:r>
              <a:rPr lang="en-US" sz="1600" dirty="0">
                <a:latin typeface="Arial" panose="020B0604020202020204" pitchFamily="34" charset="0"/>
                <a:cs typeface="Arial" panose="020B0604020202020204" pitchFamily="34" charset="0"/>
              </a:rPr>
              <a:t>- Add 2 of each of the components above, with different lengths</a:t>
            </a:r>
          </a:p>
          <a:p>
            <a:pPr algn="just"/>
            <a:r>
              <a:rPr lang="en-US" sz="1600" dirty="0">
                <a:latin typeface="Arial" panose="020B0604020202020204" pitchFamily="34" charset="0"/>
                <a:cs typeface="Arial" panose="020B0604020202020204" pitchFamily="34" charset="0"/>
              </a:rPr>
              <a:t>- Connect all your components to the I/</a:t>
            </a:r>
            <a:r>
              <a:rPr lang="en-US" sz="1600" dirty="0" err="1">
                <a:latin typeface="Arial" panose="020B0604020202020204" pitchFamily="34" charset="0"/>
                <a:cs typeface="Arial" panose="020B0604020202020204" pitchFamily="34" charset="0"/>
              </a:rPr>
              <a:t>Os</a:t>
            </a:r>
            <a:r>
              <a:rPr lang="en-US" sz="1600" dirty="0">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7087385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egnaposto numero diapositiva 4">
            <a:extLst>
              <a:ext uri="{FF2B5EF4-FFF2-40B4-BE49-F238E27FC236}">
                <a16:creationId xmlns:a16="http://schemas.microsoft.com/office/drawing/2014/main" id="{9C5B713F-AAFF-540F-A5E3-316591072CA3}"/>
              </a:ext>
            </a:extLst>
          </p:cNvPr>
          <p:cNvSpPr>
            <a:spLocks noGrp="1"/>
          </p:cNvSpPr>
          <p:nvPr>
            <p:ph type="sldNum" sz="quarter" idx="7"/>
          </p:nvPr>
        </p:nvSpPr>
        <p:spPr/>
        <p:txBody>
          <a:bodyPr/>
          <a:lstStyle/>
          <a:p>
            <a:fld id="{B6F15528-21DE-4FAA-801E-634DDDAF4B2B}" type="slidenum">
              <a:rPr lang="it-IT" smtClean="0"/>
              <a:t>18</a:t>
            </a:fld>
            <a:endParaRPr lang="it-IT"/>
          </a:p>
        </p:txBody>
      </p:sp>
      <p:pic>
        <p:nvPicPr>
          <p:cNvPr id="13" name="Immagine 12">
            <a:extLst>
              <a:ext uri="{FF2B5EF4-FFF2-40B4-BE49-F238E27FC236}">
                <a16:creationId xmlns:a16="http://schemas.microsoft.com/office/drawing/2014/main" id="{63B805F5-4775-3C10-944F-EC93C93694E8}"/>
              </a:ext>
            </a:extLst>
          </p:cNvPr>
          <p:cNvPicPr>
            <a:picLocks noChangeAspect="1"/>
          </p:cNvPicPr>
          <p:nvPr/>
        </p:nvPicPr>
        <p:blipFill>
          <a:blip r:embed="rId2"/>
          <a:stretch>
            <a:fillRect/>
          </a:stretch>
        </p:blipFill>
        <p:spPr>
          <a:xfrm>
            <a:off x="88506" y="155579"/>
            <a:ext cx="3174392" cy="2005848"/>
          </a:xfrm>
          <a:prstGeom prst="rect">
            <a:avLst/>
          </a:prstGeom>
        </p:spPr>
      </p:pic>
      <p:pic>
        <p:nvPicPr>
          <p:cNvPr id="15" name="Immagine 14">
            <a:extLst>
              <a:ext uri="{FF2B5EF4-FFF2-40B4-BE49-F238E27FC236}">
                <a16:creationId xmlns:a16="http://schemas.microsoft.com/office/drawing/2014/main" id="{B2C129BD-44A2-281A-7A90-A1C7DEE9D782}"/>
              </a:ext>
            </a:extLst>
          </p:cNvPr>
          <p:cNvPicPr>
            <a:picLocks noChangeAspect="1"/>
          </p:cNvPicPr>
          <p:nvPr/>
        </p:nvPicPr>
        <p:blipFill>
          <a:blip r:embed="rId3"/>
          <a:stretch>
            <a:fillRect/>
          </a:stretch>
        </p:blipFill>
        <p:spPr>
          <a:xfrm>
            <a:off x="3262898" y="134915"/>
            <a:ext cx="2775857" cy="2095500"/>
          </a:xfrm>
          <a:prstGeom prst="rect">
            <a:avLst/>
          </a:prstGeom>
        </p:spPr>
      </p:pic>
      <p:pic>
        <p:nvPicPr>
          <p:cNvPr id="17" name="Immagine 16">
            <a:extLst>
              <a:ext uri="{FF2B5EF4-FFF2-40B4-BE49-F238E27FC236}">
                <a16:creationId xmlns:a16="http://schemas.microsoft.com/office/drawing/2014/main" id="{A3EE152D-7332-98E7-205B-F88F6DFABE4D}"/>
              </a:ext>
            </a:extLst>
          </p:cNvPr>
          <p:cNvPicPr>
            <a:picLocks noChangeAspect="1"/>
          </p:cNvPicPr>
          <p:nvPr/>
        </p:nvPicPr>
        <p:blipFill>
          <a:blip r:embed="rId4"/>
          <a:stretch>
            <a:fillRect/>
          </a:stretch>
        </p:blipFill>
        <p:spPr>
          <a:xfrm>
            <a:off x="88506" y="2252472"/>
            <a:ext cx="3174392" cy="2167128"/>
          </a:xfrm>
          <a:prstGeom prst="rect">
            <a:avLst/>
          </a:prstGeom>
        </p:spPr>
      </p:pic>
      <p:pic>
        <p:nvPicPr>
          <p:cNvPr id="19" name="Immagine 18">
            <a:extLst>
              <a:ext uri="{FF2B5EF4-FFF2-40B4-BE49-F238E27FC236}">
                <a16:creationId xmlns:a16="http://schemas.microsoft.com/office/drawing/2014/main" id="{A9E3957F-E400-924D-7220-A1018F6D51CA}"/>
              </a:ext>
            </a:extLst>
          </p:cNvPr>
          <p:cNvPicPr>
            <a:picLocks noChangeAspect="1"/>
          </p:cNvPicPr>
          <p:nvPr/>
        </p:nvPicPr>
        <p:blipFill>
          <a:blip r:embed="rId5"/>
          <a:stretch>
            <a:fillRect/>
          </a:stretch>
        </p:blipFill>
        <p:spPr>
          <a:xfrm>
            <a:off x="3262898" y="2230415"/>
            <a:ext cx="2775857" cy="2222836"/>
          </a:xfrm>
          <a:prstGeom prst="rect">
            <a:avLst/>
          </a:prstGeom>
        </p:spPr>
      </p:pic>
      <p:pic>
        <p:nvPicPr>
          <p:cNvPr id="21" name="Immagine 20">
            <a:extLst>
              <a:ext uri="{FF2B5EF4-FFF2-40B4-BE49-F238E27FC236}">
                <a16:creationId xmlns:a16="http://schemas.microsoft.com/office/drawing/2014/main" id="{2F3841FB-2DD1-B26E-AD21-9323C2632351}"/>
              </a:ext>
            </a:extLst>
          </p:cNvPr>
          <p:cNvPicPr>
            <a:picLocks noChangeAspect="1"/>
          </p:cNvPicPr>
          <p:nvPr/>
        </p:nvPicPr>
        <p:blipFill>
          <a:blip r:embed="rId6"/>
          <a:stretch>
            <a:fillRect/>
          </a:stretch>
        </p:blipFill>
        <p:spPr>
          <a:xfrm>
            <a:off x="3262898" y="4453251"/>
            <a:ext cx="2775857" cy="2095500"/>
          </a:xfrm>
          <a:prstGeom prst="rect">
            <a:avLst/>
          </a:prstGeom>
        </p:spPr>
      </p:pic>
      <p:pic>
        <p:nvPicPr>
          <p:cNvPr id="23" name="Immagine 22">
            <a:extLst>
              <a:ext uri="{FF2B5EF4-FFF2-40B4-BE49-F238E27FC236}">
                <a16:creationId xmlns:a16="http://schemas.microsoft.com/office/drawing/2014/main" id="{62F14028-801A-D403-48A4-C41293DCE462}"/>
              </a:ext>
            </a:extLst>
          </p:cNvPr>
          <p:cNvPicPr>
            <a:picLocks noChangeAspect="1"/>
          </p:cNvPicPr>
          <p:nvPr/>
        </p:nvPicPr>
        <p:blipFill>
          <a:blip r:embed="rId7"/>
          <a:stretch>
            <a:fillRect/>
          </a:stretch>
        </p:blipFill>
        <p:spPr>
          <a:xfrm>
            <a:off x="76757" y="4515803"/>
            <a:ext cx="3176785" cy="2005848"/>
          </a:xfrm>
          <a:prstGeom prst="rect">
            <a:avLst/>
          </a:prstGeom>
        </p:spPr>
      </p:pic>
      <p:pic>
        <p:nvPicPr>
          <p:cNvPr id="25" name="Immagine 24">
            <a:extLst>
              <a:ext uri="{FF2B5EF4-FFF2-40B4-BE49-F238E27FC236}">
                <a16:creationId xmlns:a16="http://schemas.microsoft.com/office/drawing/2014/main" id="{0B808198-6215-DD0E-6522-B917CE98C45C}"/>
              </a:ext>
            </a:extLst>
          </p:cNvPr>
          <p:cNvPicPr>
            <a:picLocks noChangeAspect="1"/>
          </p:cNvPicPr>
          <p:nvPr/>
        </p:nvPicPr>
        <p:blipFill>
          <a:blip r:embed="rId8"/>
          <a:stretch>
            <a:fillRect/>
          </a:stretch>
        </p:blipFill>
        <p:spPr>
          <a:xfrm>
            <a:off x="6058128" y="1349864"/>
            <a:ext cx="3174392" cy="1623125"/>
          </a:xfrm>
          <a:prstGeom prst="rect">
            <a:avLst/>
          </a:prstGeom>
        </p:spPr>
      </p:pic>
      <p:pic>
        <p:nvPicPr>
          <p:cNvPr id="27" name="Immagine 26">
            <a:extLst>
              <a:ext uri="{FF2B5EF4-FFF2-40B4-BE49-F238E27FC236}">
                <a16:creationId xmlns:a16="http://schemas.microsoft.com/office/drawing/2014/main" id="{84EA9CA2-D06E-CFDE-C7E8-985760B698FE}"/>
              </a:ext>
            </a:extLst>
          </p:cNvPr>
          <p:cNvPicPr>
            <a:picLocks noChangeAspect="1"/>
          </p:cNvPicPr>
          <p:nvPr/>
        </p:nvPicPr>
        <p:blipFill>
          <a:blip r:embed="rId9"/>
          <a:stretch>
            <a:fillRect/>
          </a:stretch>
        </p:blipFill>
        <p:spPr>
          <a:xfrm>
            <a:off x="9251893" y="1066800"/>
            <a:ext cx="2775857" cy="2095500"/>
          </a:xfrm>
          <a:prstGeom prst="rect">
            <a:avLst/>
          </a:prstGeom>
        </p:spPr>
      </p:pic>
      <p:pic>
        <p:nvPicPr>
          <p:cNvPr id="31" name="Immagine 30">
            <a:extLst>
              <a:ext uri="{FF2B5EF4-FFF2-40B4-BE49-F238E27FC236}">
                <a16:creationId xmlns:a16="http://schemas.microsoft.com/office/drawing/2014/main" id="{F52CD9D5-A18A-6A5E-422D-63D31330E74C}"/>
              </a:ext>
            </a:extLst>
          </p:cNvPr>
          <p:cNvPicPr>
            <a:picLocks noChangeAspect="1"/>
          </p:cNvPicPr>
          <p:nvPr/>
        </p:nvPicPr>
        <p:blipFill>
          <a:blip r:embed="rId10"/>
          <a:stretch>
            <a:fillRect/>
          </a:stretch>
        </p:blipFill>
        <p:spPr>
          <a:xfrm>
            <a:off x="6054569" y="3520789"/>
            <a:ext cx="3174393" cy="1797621"/>
          </a:xfrm>
          <a:prstGeom prst="rect">
            <a:avLst/>
          </a:prstGeom>
        </p:spPr>
      </p:pic>
      <p:pic>
        <p:nvPicPr>
          <p:cNvPr id="33" name="Immagine 32">
            <a:extLst>
              <a:ext uri="{FF2B5EF4-FFF2-40B4-BE49-F238E27FC236}">
                <a16:creationId xmlns:a16="http://schemas.microsoft.com/office/drawing/2014/main" id="{58785A8B-B772-3F8E-0802-EEB54025045B}"/>
              </a:ext>
            </a:extLst>
          </p:cNvPr>
          <p:cNvPicPr>
            <a:picLocks noChangeAspect="1"/>
          </p:cNvPicPr>
          <p:nvPr/>
        </p:nvPicPr>
        <p:blipFill>
          <a:blip r:embed="rId11"/>
          <a:stretch>
            <a:fillRect/>
          </a:stretch>
        </p:blipFill>
        <p:spPr>
          <a:xfrm>
            <a:off x="9252444" y="3365698"/>
            <a:ext cx="2804160" cy="2116866"/>
          </a:xfrm>
          <a:prstGeom prst="rect">
            <a:avLst/>
          </a:prstGeom>
        </p:spPr>
      </p:pic>
      <p:sp>
        <p:nvSpPr>
          <p:cNvPr id="34" name="CasellaDiTesto 33">
            <a:extLst>
              <a:ext uri="{FF2B5EF4-FFF2-40B4-BE49-F238E27FC236}">
                <a16:creationId xmlns:a16="http://schemas.microsoft.com/office/drawing/2014/main" id="{75D77212-8D44-00FB-9241-0D7975417D46}"/>
              </a:ext>
            </a:extLst>
          </p:cNvPr>
          <p:cNvSpPr txBox="1"/>
          <p:nvPr/>
        </p:nvSpPr>
        <p:spPr>
          <a:xfrm>
            <a:off x="8382000" y="187128"/>
            <a:ext cx="4724400" cy="369332"/>
          </a:xfrm>
          <a:prstGeom prst="rect">
            <a:avLst/>
          </a:prstGeom>
          <a:noFill/>
        </p:spPr>
        <p:txBody>
          <a:bodyPr wrap="square" rtlCol="0">
            <a:spAutoFit/>
          </a:bodyPr>
          <a:lstStyle/>
          <a:p>
            <a:r>
              <a:rPr lang="en-US" dirty="0"/>
              <a:t>4 part a</a:t>
            </a:r>
            <a:endParaRPr lang="it-IT" dirty="0"/>
          </a:p>
        </p:txBody>
      </p:sp>
    </p:spTree>
    <p:extLst>
      <p:ext uri="{BB962C8B-B14F-4D97-AF65-F5344CB8AC3E}">
        <p14:creationId xmlns:p14="http://schemas.microsoft.com/office/powerpoint/2010/main" val="16625657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A80732C-F1B1-A5C6-3B64-EC7F0FF29919}"/>
              </a:ext>
            </a:extLst>
          </p:cNvPr>
          <p:cNvSpPr>
            <a:spLocks noGrp="1"/>
          </p:cNvSpPr>
          <p:nvPr>
            <p:ph type="title"/>
          </p:nvPr>
        </p:nvSpPr>
        <p:spPr>
          <a:xfrm>
            <a:off x="9627870" y="609600"/>
            <a:ext cx="1085850" cy="307777"/>
          </a:xfrm>
        </p:spPr>
        <p:txBody>
          <a:bodyPr/>
          <a:lstStyle/>
          <a:p>
            <a:r>
              <a:rPr lang="en-US" dirty="0"/>
              <a:t>4 part b</a:t>
            </a:r>
            <a:endParaRPr lang="it-IT" dirty="0"/>
          </a:p>
        </p:txBody>
      </p:sp>
      <p:sp>
        <p:nvSpPr>
          <p:cNvPr id="5" name="Segnaposto numero diapositiva 4">
            <a:extLst>
              <a:ext uri="{FF2B5EF4-FFF2-40B4-BE49-F238E27FC236}">
                <a16:creationId xmlns:a16="http://schemas.microsoft.com/office/drawing/2014/main" id="{A72F21B4-5358-F200-AD76-15DB02774678}"/>
              </a:ext>
            </a:extLst>
          </p:cNvPr>
          <p:cNvSpPr>
            <a:spLocks noGrp="1"/>
          </p:cNvSpPr>
          <p:nvPr>
            <p:ph type="sldNum" sz="quarter" idx="7"/>
          </p:nvPr>
        </p:nvSpPr>
        <p:spPr/>
        <p:txBody>
          <a:bodyPr/>
          <a:lstStyle/>
          <a:p>
            <a:fld id="{B6F15528-21DE-4FAA-801E-634DDDAF4B2B}" type="slidenum">
              <a:rPr lang="it-IT" smtClean="0"/>
              <a:t>19</a:t>
            </a:fld>
            <a:endParaRPr lang="it-IT"/>
          </a:p>
        </p:txBody>
      </p:sp>
      <p:pic>
        <p:nvPicPr>
          <p:cNvPr id="9" name="Immagine 8">
            <a:extLst>
              <a:ext uri="{FF2B5EF4-FFF2-40B4-BE49-F238E27FC236}">
                <a16:creationId xmlns:a16="http://schemas.microsoft.com/office/drawing/2014/main" id="{8E0CCF32-06EB-55E4-D369-9F657BBE7DE3}"/>
              </a:ext>
            </a:extLst>
          </p:cNvPr>
          <p:cNvPicPr>
            <a:picLocks noChangeAspect="1"/>
          </p:cNvPicPr>
          <p:nvPr/>
        </p:nvPicPr>
        <p:blipFill>
          <a:blip r:embed="rId2"/>
          <a:stretch>
            <a:fillRect/>
          </a:stretch>
        </p:blipFill>
        <p:spPr>
          <a:xfrm>
            <a:off x="264485" y="269918"/>
            <a:ext cx="4149749" cy="6318164"/>
          </a:xfrm>
          <a:prstGeom prst="rect">
            <a:avLst/>
          </a:prstGeom>
        </p:spPr>
      </p:pic>
      <p:pic>
        <p:nvPicPr>
          <p:cNvPr id="11" name="Immagine 10">
            <a:extLst>
              <a:ext uri="{FF2B5EF4-FFF2-40B4-BE49-F238E27FC236}">
                <a16:creationId xmlns:a16="http://schemas.microsoft.com/office/drawing/2014/main" id="{76680F87-1B21-DE47-DD4E-876A0B4A7328}"/>
              </a:ext>
            </a:extLst>
          </p:cNvPr>
          <p:cNvPicPr>
            <a:picLocks noChangeAspect="1"/>
          </p:cNvPicPr>
          <p:nvPr/>
        </p:nvPicPr>
        <p:blipFill>
          <a:blip r:embed="rId3"/>
          <a:stretch>
            <a:fillRect/>
          </a:stretch>
        </p:blipFill>
        <p:spPr>
          <a:xfrm>
            <a:off x="7781062" y="2034780"/>
            <a:ext cx="4191482" cy="2788439"/>
          </a:xfrm>
          <a:prstGeom prst="rect">
            <a:avLst/>
          </a:prstGeom>
        </p:spPr>
      </p:pic>
      <p:pic>
        <p:nvPicPr>
          <p:cNvPr id="17" name="Immagine 16">
            <a:extLst>
              <a:ext uri="{FF2B5EF4-FFF2-40B4-BE49-F238E27FC236}">
                <a16:creationId xmlns:a16="http://schemas.microsoft.com/office/drawing/2014/main" id="{11B8C87D-517B-EBBF-46A8-6BAC59D645C0}"/>
              </a:ext>
            </a:extLst>
          </p:cNvPr>
          <p:cNvPicPr>
            <a:picLocks noChangeAspect="1"/>
          </p:cNvPicPr>
          <p:nvPr/>
        </p:nvPicPr>
        <p:blipFill>
          <a:blip r:embed="rId4"/>
          <a:stretch>
            <a:fillRect/>
          </a:stretch>
        </p:blipFill>
        <p:spPr>
          <a:xfrm>
            <a:off x="4660278" y="38100"/>
            <a:ext cx="2897987" cy="6781800"/>
          </a:xfrm>
          <a:prstGeom prst="rect">
            <a:avLst/>
          </a:prstGeom>
        </p:spPr>
      </p:pic>
    </p:spTree>
    <p:extLst>
      <p:ext uri="{BB962C8B-B14F-4D97-AF65-F5344CB8AC3E}">
        <p14:creationId xmlns:p14="http://schemas.microsoft.com/office/powerpoint/2010/main" val="10834271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5EE4D0-A4EA-71A8-CD18-44E74A3639E2}"/>
              </a:ext>
            </a:extLst>
          </p:cNvPr>
          <p:cNvSpPr>
            <a:spLocks noGrp="1"/>
          </p:cNvSpPr>
          <p:nvPr>
            <p:ph type="title"/>
          </p:nvPr>
        </p:nvSpPr>
        <p:spPr/>
        <p:txBody>
          <a:bodyPr/>
          <a:lstStyle/>
          <a:p>
            <a:r>
              <a:rPr lang="en-US" dirty="0"/>
              <a:t>4 part 3</a:t>
            </a:r>
            <a:endParaRPr lang="it-IT" dirty="0"/>
          </a:p>
        </p:txBody>
      </p:sp>
      <p:sp>
        <p:nvSpPr>
          <p:cNvPr id="5" name="Segnaposto numero diapositiva 4">
            <a:extLst>
              <a:ext uri="{FF2B5EF4-FFF2-40B4-BE49-F238E27FC236}">
                <a16:creationId xmlns:a16="http://schemas.microsoft.com/office/drawing/2014/main" id="{BCE444B6-B685-0690-F734-C81243ECF29F}"/>
              </a:ext>
            </a:extLst>
          </p:cNvPr>
          <p:cNvSpPr>
            <a:spLocks noGrp="1"/>
          </p:cNvSpPr>
          <p:nvPr>
            <p:ph type="sldNum" sz="quarter" idx="7"/>
          </p:nvPr>
        </p:nvSpPr>
        <p:spPr/>
        <p:txBody>
          <a:bodyPr/>
          <a:lstStyle/>
          <a:p>
            <a:fld id="{B6F15528-21DE-4FAA-801E-634DDDAF4B2B}" type="slidenum">
              <a:rPr lang="it-IT" smtClean="0"/>
              <a:t>20</a:t>
            </a:fld>
            <a:endParaRPr lang="it-IT"/>
          </a:p>
        </p:txBody>
      </p:sp>
      <p:pic>
        <p:nvPicPr>
          <p:cNvPr id="7" name="Immagine 6">
            <a:extLst>
              <a:ext uri="{FF2B5EF4-FFF2-40B4-BE49-F238E27FC236}">
                <a16:creationId xmlns:a16="http://schemas.microsoft.com/office/drawing/2014/main" id="{822893E4-AA79-A7B6-1ED0-7FB1CD3FC5BE}"/>
              </a:ext>
            </a:extLst>
          </p:cNvPr>
          <p:cNvPicPr>
            <a:picLocks noChangeAspect="1"/>
          </p:cNvPicPr>
          <p:nvPr/>
        </p:nvPicPr>
        <p:blipFill>
          <a:blip r:embed="rId2"/>
          <a:stretch>
            <a:fillRect/>
          </a:stretch>
        </p:blipFill>
        <p:spPr>
          <a:xfrm>
            <a:off x="585384" y="1367790"/>
            <a:ext cx="5400304" cy="4076700"/>
          </a:xfrm>
          <a:prstGeom prst="rect">
            <a:avLst/>
          </a:prstGeom>
        </p:spPr>
      </p:pic>
      <p:pic>
        <p:nvPicPr>
          <p:cNvPr id="9" name="Immagine 8">
            <a:extLst>
              <a:ext uri="{FF2B5EF4-FFF2-40B4-BE49-F238E27FC236}">
                <a16:creationId xmlns:a16="http://schemas.microsoft.com/office/drawing/2014/main" id="{A9A4A59D-E3CD-DF08-9EF0-9B1D4B70090C}"/>
              </a:ext>
            </a:extLst>
          </p:cNvPr>
          <p:cNvPicPr>
            <a:picLocks noChangeAspect="1"/>
          </p:cNvPicPr>
          <p:nvPr/>
        </p:nvPicPr>
        <p:blipFill>
          <a:blip r:embed="rId3"/>
          <a:stretch>
            <a:fillRect/>
          </a:stretch>
        </p:blipFill>
        <p:spPr>
          <a:xfrm>
            <a:off x="7256727" y="56377"/>
            <a:ext cx="4842283" cy="6745245"/>
          </a:xfrm>
          <a:prstGeom prst="rect">
            <a:avLst/>
          </a:prstGeom>
        </p:spPr>
      </p:pic>
    </p:spTree>
    <p:extLst>
      <p:ext uri="{BB962C8B-B14F-4D97-AF65-F5344CB8AC3E}">
        <p14:creationId xmlns:p14="http://schemas.microsoft.com/office/powerpoint/2010/main" val="2352950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3945635" y="2636520"/>
            <a:ext cx="8246363" cy="1584959"/>
          </a:xfrm>
          <a:prstGeom prst="rect">
            <a:avLst/>
          </a:prstGeom>
          <a:blipFill>
            <a:blip r:embed="rId2" cstate="print"/>
            <a:stretch>
              <a:fillRect/>
            </a:stretch>
          </a:blipFill>
        </p:spPr>
        <p:txBody>
          <a:bodyPr wrap="square" lIns="0" tIns="0" rIns="0" bIns="0" rtlCol="0"/>
          <a:lstStyle/>
          <a:p>
            <a:endParaRPr/>
          </a:p>
        </p:txBody>
      </p:sp>
      <p:sp>
        <p:nvSpPr>
          <p:cNvPr id="4" name="object 4"/>
          <p:cNvSpPr txBox="1">
            <a:spLocks noGrp="1"/>
          </p:cNvSpPr>
          <p:nvPr>
            <p:ph type="title"/>
          </p:nvPr>
        </p:nvSpPr>
        <p:spPr>
          <a:xfrm>
            <a:off x="4513326" y="3165729"/>
            <a:ext cx="2233295" cy="513715"/>
          </a:xfrm>
          <a:prstGeom prst="rect">
            <a:avLst/>
          </a:prstGeom>
        </p:spPr>
        <p:txBody>
          <a:bodyPr vert="horz" wrap="square" lIns="0" tIns="13335" rIns="0" bIns="0" rtlCol="0">
            <a:spAutoFit/>
          </a:bodyPr>
          <a:lstStyle/>
          <a:p>
            <a:pPr marL="12700">
              <a:lnSpc>
                <a:spcPct val="100000"/>
              </a:lnSpc>
              <a:spcBef>
                <a:spcPts val="105"/>
              </a:spcBef>
            </a:pPr>
            <a:r>
              <a:rPr sz="3200" b="1" spc="-5" dirty="0">
                <a:solidFill>
                  <a:srgbClr val="FFFFFF"/>
                </a:solidFill>
                <a:latin typeface="Lucida Sans"/>
                <a:cs typeface="Lucida Sans"/>
              </a:rPr>
              <a:t>Thank</a:t>
            </a:r>
            <a:r>
              <a:rPr sz="3200" b="1" spc="-55" dirty="0">
                <a:solidFill>
                  <a:srgbClr val="FFFFFF"/>
                </a:solidFill>
                <a:latin typeface="Lucida Sans"/>
                <a:cs typeface="Lucida Sans"/>
              </a:rPr>
              <a:t> </a:t>
            </a:r>
            <a:r>
              <a:rPr sz="3200" b="1" dirty="0">
                <a:solidFill>
                  <a:srgbClr val="FFFFFF"/>
                </a:solidFill>
                <a:latin typeface="Lucida Sans"/>
                <a:cs typeface="Lucida Sans"/>
              </a:rPr>
              <a:t>you</a:t>
            </a:r>
            <a:endParaRPr sz="3200">
              <a:latin typeface="Lucida Sans"/>
              <a:cs typeface="Lucida Sans"/>
            </a:endParaRPr>
          </a:p>
        </p:txBody>
      </p:sp>
      <p:sp>
        <p:nvSpPr>
          <p:cNvPr id="5" name="Marcador de número de diapositiva 4">
            <a:extLst>
              <a:ext uri="{FF2B5EF4-FFF2-40B4-BE49-F238E27FC236}">
                <a16:creationId xmlns:a16="http://schemas.microsoft.com/office/drawing/2014/main" id="{B052DA19-AD24-7D24-2AE9-51F8F5A7F5E0}"/>
              </a:ext>
            </a:extLst>
          </p:cNvPr>
          <p:cNvSpPr>
            <a:spLocks noGrp="1"/>
          </p:cNvSpPr>
          <p:nvPr>
            <p:ph type="sldNum" sz="quarter" idx="7"/>
          </p:nvPr>
        </p:nvSpPr>
        <p:spPr/>
        <p:txBody>
          <a:bodyPr/>
          <a:lstStyle/>
          <a:p>
            <a:fld id="{B6F15528-21DE-4FAA-801E-634DDDAF4B2B}" type="slidenum">
              <a:rPr lang="es-ES" smtClean="0"/>
              <a:t>21</a:t>
            </a:fld>
            <a:endParaRPr lang="es-E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0</TotalTime>
  <Words>1333</Words>
  <Application>Microsoft Office PowerPoint</Application>
  <PresentationFormat>Widescreen</PresentationFormat>
  <Paragraphs>100</Paragraphs>
  <Slides>21</Slides>
  <Notes>6</Notes>
  <HiddenSlides>0</HiddenSlides>
  <MMClips>0</MMClips>
  <ScaleCrop>false</ScaleCrop>
  <HeadingPairs>
    <vt:vector size="6" baseType="variant">
      <vt:variant>
        <vt:lpstr>Caratteri utilizzati</vt:lpstr>
      </vt:variant>
      <vt:variant>
        <vt:i4>5</vt:i4>
      </vt:variant>
      <vt:variant>
        <vt:lpstr>Tema</vt:lpstr>
      </vt:variant>
      <vt:variant>
        <vt:i4>1</vt:i4>
      </vt:variant>
      <vt:variant>
        <vt:lpstr>Titoli diapositive</vt:lpstr>
      </vt:variant>
      <vt:variant>
        <vt:i4>21</vt:i4>
      </vt:variant>
    </vt:vector>
  </HeadingPairs>
  <TitlesOfParts>
    <vt:vector size="27" baseType="lpstr">
      <vt:lpstr>Aptos</vt:lpstr>
      <vt:lpstr>Arial</vt:lpstr>
      <vt:lpstr>Calibri</vt:lpstr>
      <vt:lpstr>Lucida Sans</vt:lpstr>
      <vt:lpstr>Wingdings</vt:lpstr>
      <vt:lpstr>Office Theme</vt:lpstr>
      <vt:lpstr>Presentazione standard di PowerPoint</vt:lpstr>
      <vt:lpstr>Instructions General</vt:lpstr>
      <vt:lpstr>Learning outcome #1a – Notebook section 1. Technology “We will work with the demo UPVfab PDK. Let's view the layer distribution of this PDK”</vt:lpstr>
      <vt:lpstr>Learning outcome #1b – Notebook section 1. Technology – 1 slide per component “Use your design results from Lab2 and Lab3 to create layout instances of your designed components: DCs, MMIs, MZIs &amp; Ring Resonators”</vt:lpstr>
      <vt:lpstr>Presentazione standard di PowerPoint</vt:lpstr>
      <vt:lpstr>Presentazione standard di PowerPoint</vt:lpstr>
      <vt:lpstr>Presentazione standard di PowerPoint</vt:lpstr>
      <vt:lpstr>Learning outcome #2a – Notebook section 2. Layout Fundamentals “Once that we have a working 'new' component, we shall convert it into a Cell. This will allow us to have a hierarchical design”</vt:lpstr>
      <vt:lpstr>Learning outcome #2a – Notebook section 2. Layout Fundamentals – 1 slide per component “Use your design results from Lab2 and Lab3 to create layout instances of your designed components: DCs, MMIs, MZIs &amp; Ring Resonators”  Make cells for all your components</vt:lpstr>
      <vt:lpstr>Presentazione standard di PowerPoint</vt:lpstr>
      <vt:lpstr>Presentazione standard di PowerPoint</vt:lpstr>
      <vt:lpstr>Presentazione standard di PowerPoint</vt:lpstr>
      <vt:lpstr>Presentazione standard di PowerPoint</vt:lpstr>
      <vt:lpstr>Learning outcome #3 – Notebook section 3. Complete layout</vt:lpstr>
      <vt:lpstr>Presentazione standard di PowerPoint</vt:lpstr>
      <vt:lpstr>Presentazione standard di PowerPoint</vt:lpstr>
      <vt:lpstr>Learning outcome #4 – Notebook section 4. Exercises – 1 slide per bullet point</vt:lpstr>
      <vt:lpstr>Presentazione standard di PowerPoint</vt:lpstr>
      <vt:lpstr>4 part b</vt:lpstr>
      <vt:lpstr>4 part 3</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Mª Ester Calataytud</dc:creator>
  <cp:lastModifiedBy>Giorgio Andreoli - giorgio.andreoli@studio.unibo.it</cp:lastModifiedBy>
  <cp:revision>34</cp:revision>
  <dcterms:created xsi:type="dcterms:W3CDTF">2025-01-27T02:46:57Z</dcterms:created>
  <dcterms:modified xsi:type="dcterms:W3CDTF">2026-06-02T22:38:19Z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2024-09-16T00:00:00Z</vt:filetime>
  </property>
  <property fmtid="{D5CDD505-2E9C-101B-9397-08002B2CF9AE}" pid="3" name="Creator">
    <vt:lpwstr>Microsoft® PowerPoint® 2016</vt:lpwstr>
  </property>
  <property fmtid="{D5CDD505-2E9C-101B-9397-08002B2CF9AE}" pid="4" name="LastSaved">
    <vt:filetime>2025-01-27T00:00:00Z</vt:filetime>
  </property>
</Properties>
</file>